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62" r:id="rId6"/>
    <p:sldId id="259" r:id="rId7"/>
    <p:sldId id="260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tags" Target="../tags/tag1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5.png"/><Relationship Id="rId7" Type="http://schemas.openxmlformats.org/officeDocument/2006/relationships/tags" Target="../tags/tag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0" Type="http://schemas.openxmlformats.org/officeDocument/2006/relationships/notesSlide" Target="../notesSlides/notesSlide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10.xml"/><Relationship Id="rId8" Type="http://schemas.openxmlformats.org/officeDocument/2006/relationships/tags" Target="../tags/tag9.xml"/><Relationship Id="rId7" Type="http://schemas.openxmlformats.org/officeDocument/2006/relationships/tags" Target="../tags/tag8.xml"/><Relationship Id="rId6" Type="http://schemas.openxmlformats.org/officeDocument/2006/relationships/tags" Target="../tags/tag7.xml"/><Relationship Id="rId5" Type="http://schemas.openxmlformats.org/officeDocument/2006/relationships/tags" Target="../tags/tag6.xml"/><Relationship Id="rId4" Type="http://schemas.openxmlformats.org/officeDocument/2006/relationships/image" Target="../media/image7.png"/><Relationship Id="rId38" Type="http://schemas.openxmlformats.org/officeDocument/2006/relationships/notesSlide" Target="../notesSlides/notesSlide3.xml"/><Relationship Id="rId37" Type="http://schemas.openxmlformats.org/officeDocument/2006/relationships/slideLayout" Target="../slideLayouts/slideLayout1.xml"/><Relationship Id="rId36" Type="http://schemas.openxmlformats.org/officeDocument/2006/relationships/tags" Target="../tags/tag32.xml"/><Relationship Id="rId35" Type="http://schemas.openxmlformats.org/officeDocument/2006/relationships/tags" Target="../tags/tag31.xml"/><Relationship Id="rId34" Type="http://schemas.openxmlformats.org/officeDocument/2006/relationships/image" Target="../media/image12.png"/><Relationship Id="rId33" Type="http://schemas.openxmlformats.org/officeDocument/2006/relationships/tags" Target="../tags/tag30.xml"/><Relationship Id="rId32" Type="http://schemas.openxmlformats.org/officeDocument/2006/relationships/tags" Target="../tags/tag29.xml"/><Relationship Id="rId31" Type="http://schemas.openxmlformats.org/officeDocument/2006/relationships/tags" Target="../tags/tag28.xml"/><Relationship Id="rId30" Type="http://schemas.openxmlformats.org/officeDocument/2006/relationships/tags" Target="../tags/tag27.xml"/><Relationship Id="rId3" Type="http://schemas.openxmlformats.org/officeDocument/2006/relationships/tags" Target="../tags/tag5.xml"/><Relationship Id="rId29" Type="http://schemas.openxmlformats.org/officeDocument/2006/relationships/tags" Target="../tags/tag26.xml"/><Relationship Id="rId28" Type="http://schemas.openxmlformats.org/officeDocument/2006/relationships/image" Target="../media/image5.png"/><Relationship Id="rId27" Type="http://schemas.openxmlformats.org/officeDocument/2006/relationships/tags" Target="../tags/tag25.xml"/><Relationship Id="rId26" Type="http://schemas.openxmlformats.org/officeDocument/2006/relationships/tags" Target="../tags/tag24.xml"/><Relationship Id="rId25" Type="http://schemas.openxmlformats.org/officeDocument/2006/relationships/tags" Target="../tags/tag23.xml"/><Relationship Id="rId24" Type="http://schemas.openxmlformats.org/officeDocument/2006/relationships/tags" Target="../tags/tag22.xml"/><Relationship Id="rId23" Type="http://schemas.openxmlformats.org/officeDocument/2006/relationships/tags" Target="../tags/tag21.xml"/><Relationship Id="rId22" Type="http://schemas.openxmlformats.org/officeDocument/2006/relationships/image" Target="../media/image11.png"/><Relationship Id="rId21" Type="http://schemas.openxmlformats.org/officeDocument/2006/relationships/tags" Target="../tags/tag20.xml"/><Relationship Id="rId20" Type="http://schemas.openxmlformats.org/officeDocument/2006/relationships/tags" Target="../tags/tag19.xml"/><Relationship Id="rId2" Type="http://schemas.openxmlformats.org/officeDocument/2006/relationships/tags" Target="../tags/tag4.xml"/><Relationship Id="rId19" Type="http://schemas.openxmlformats.org/officeDocument/2006/relationships/tags" Target="../tags/tag18.xml"/><Relationship Id="rId18" Type="http://schemas.openxmlformats.org/officeDocument/2006/relationships/tags" Target="../tags/tag17.xml"/><Relationship Id="rId17" Type="http://schemas.openxmlformats.org/officeDocument/2006/relationships/tags" Target="../tags/tag16.xml"/><Relationship Id="rId16" Type="http://schemas.openxmlformats.org/officeDocument/2006/relationships/image" Target="../media/image9.png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image" Target="../media/image8.png"/><Relationship Id="rId1" Type="http://schemas.openxmlformats.org/officeDocument/2006/relationships/tags" Target="../tags/tag3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40.xml"/><Relationship Id="rId8" Type="http://schemas.openxmlformats.org/officeDocument/2006/relationships/tags" Target="../tags/tag39.xml"/><Relationship Id="rId7" Type="http://schemas.openxmlformats.org/officeDocument/2006/relationships/tags" Target="../tags/tag38.xml"/><Relationship Id="rId6" Type="http://schemas.openxmlformats.org/officeDocument/2006/relationships/tags" Target="../tags/tag37.xml"/><Relationship Id="rId5" Type="http://schemas.openxmlformats.org/officeDocument/2006/relationships/tags" Target="../tags/tag36.xml"/><Relationship Id="rId4" Type="http://schemas.openxmlformats.org/officeDocument/2006/relationships/image" Target="../media/image13.png"/><Relationship Id="rId30" Type="http://schemas.openxmlformats.org/officeDocument/2006/relationships/notesSlide" Target="../notesSlides/notesSlide4.xml"/><Relationship Id="rId3" Type="http://schemas.openxmlformats.org/officeDocument/2006/relationships/tags" Target="../tags/tag35.xml"/><Relationship Id="rId29" Type="http://schemas.openxmlformats.org/officeDocument/2006/relationships/slideLayout" Target="../slideLayouts/slideLayout1.xml"/><Relationship Id="rId28" Type="http://schemas.openxmlformats.org/officeDocument/2006/relationships/tags" Target="../tags/tag56.xml"/><Relationship Id="rId27" Type="http://schemas.openxmlformats.org/officeDocument/2006/relationships/tags" Target="../tags/tag55.xml"/><Relationship Id="rId26" Type="http://schemas.openxmlformats.org/officeDocument/2006/relationships/tags" Target="../tags/tag54.xml"/><Relationship Id="rId25" Type="http://schemas.openxmlformats.org/officeDocument/2006/relationships/image" Target="../media/image14.png"/><Relationship Id="rId24" Type="http://schemas.openxmlformats.org/officeDocument/2006/relationships/tags" Target="../tags/tag53.xml"/><Relationship Id="rId23" Type="http://schemas.openxmlformats.org/officeDocument/2006/relationships/tags" Target="../tags/tag52.xml"/><Relationship Id="rId22" Type="http://schemas.openxmlformats.org/officeDocument/2006/relationships/tags" Target="../tags/tag51.xml"/><Relationship Id="rId21" Type="http://schemas.openxmlformats.org/officeDocument/2006/relationships/tags" Target="../tags/tag50.xml"/><Relationship Id="rId20" Type="http://schemas.openxmlformats.org/officeDocument/2006/relationships/tags" Target="../tags/tag49.xml"/><Relationship Id="rId2" Type="http://schemas.openxmlformats.org/officeDocument/2006/relationships/tags" Target="../tags/tag34.xml"/><Relationship Id="rId19" Type="http://schemas.openxmlformats.org/officeDocument/2006/relationships/tags" Target="../tags/tag48.xml"/><Relationship Id="rId18" Type="http://schemas.openxmlformats.org/officeDocument/2006/relationships/image" Target="../media/image2.png"/><Relationship Id="rId17" Type="http://schemas.openxmlformats.org/officeDocument/2006/relationships/tags" Target="../tags/tag47.xml"/><Relationship Id="rId16" Type="http://schemas.openxmlformats.org/officeDocument/2006/relationships/tags" Target="../tags/tag46.xml"/><Relationship Id="rId15" Type="http://schemas.openxmlformats.org/officeDocument/2006/relationships/tags" Target="../tags/tag45.xml"/><Relationship Id="rId14" Type="http://schemas.openxmlformats.org/officeDocument/2006/relationships/tags" Target="../tags/tag44.xml"/><Relationship Id="rId13" Type="http://schemas.openxmlformats.org/officeDocument/2006/relationships/tags" Target="../tags/tag43.xml"/><Relationship Id="rId12" Type="http://schemas.openxmlformats.org/officeDocument/2006/relationships/tags" Target="../tags/tag42.xml"/><Relationship Id="rId11" Type="http://schemas.openxmlformats.org/officeDocument/2006/relationships/image" Target="../media/image12.png"/><Relationship Id="rId10" Type="http://schemas.openxmlformats.org/officeDocument/2006/relationships/tags" Target="../tags/tag41.xml"/><Relationship Id="rId1" Type="http://schemas.openxmlformats.org/officeDocument/2006/relationships/tags" Target="../tags/tag3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5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2.png"/><Relationship Id="rId4" Type="http://schemas.openxmlformats.org/officeDocument/2006/relationships/image" Target="../media/image18.png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6400800" cy="6400800"/>
          </a:xfrm>
          <a:prstGeom prst="ellipse">
            <a:avLst/>
          </a:prstGeom>
          <a:solidFill>
            <a:srgbClr val="0E7C86">
              <a:alpha val="20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-2286000" y="4480560"/>
            <a:ext cx="5486400" cy="5486400"/>
          </a:xfrm>
          <a:prstGeom prst="ellipse">
            <a:avLst/>
          </a:prstGeom>
          <a:solidFill>
            <a:srgbClr val="3FD6BE">
              <a:alpha val="13000"/>
            </a:srgbClr>
          </a:solidFill>
        </p:spPr>
      </p:sp>
      <p:sp>
        <p:nvSpPr>
          <p:cNvPr id="4" name="Text 2"/>
          <p:cNvSpPr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FD6B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POC  ·  SLIDE 1 OF 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Intelligent Customer Signal Detector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91440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FC3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Problem Understanding &amp; Objective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965960"/>
            <a:ext cx="5486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FD6B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The Problem — Why Ops Teams Act Too Late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423160"/>
            <a:ext cx="402336" cy="402336"/>
          </a:xfrm>
          <a:prstGeom prst="roundRect">
            <a:avLst>
              <a:gd name="adj" fmla="val 28000"/>
            </a:avLst>
          </a:prstGeom>
          <a:solidFill>
            <a:srgbClr val="112B36"/>
          </a:solidFill>
        </p:spPr>
      </p:sp>
      <p:pic>
        <p:nvPicPr>
          <p:cNvPr id="9" name="Image 0" descr="icons/han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" y="2505456"/>
            <a:ext cx="237744" cy="23774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78992" y="2404872"/>
            <a:ext cx="49377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Reactive, not proactive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1078992" y="2697480"/>
            <a:ext cx="493776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FC3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Support teams only step in after a complaint escalates or a cancellation request is already filed — by then, the moment to retain the customer has usually passed.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48640" y="3447288"/>
            <a:ext cx="402336" cy="402336"/>
          </a:xfrm>
          <a:prstGeom prst="roundRect">
            <a:avLst>
              <a:gd name="adj" fmla="val 28000"/>
            </a:avLst>
          </a:prstGeom>
          <a:solidFill>
            <a:srgbClr val="112B36"/>
          </a:solidFill>
        </p:spPr>
      </p:sp>
      <p:pic>
        <p:nvPicPr>
          <p:cNvPr id="13" name="Image 1" descr="icons/d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" y="3529584"/>
            <a:ext cx="237744" cy="23774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078992" y="3429000"/>
            <a:ext cx="49377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Signals exist, but sit siloed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1078992" y="3721608"/>
            <a:ext cx="493776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FC3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Support chat logs, billing history, and satisfaction scores each live in a different system, so no single view of “who is at risk and why” ever forms.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548640" y="4471416"/>
            <a:ext cx="402336" cy="402336"/>
          </a:xfrm>
          <a:prstGeom prst="roundRect">
            <a:avLst>
              <a:gd name="adj" fmla="val 28000"/>
            </a:avLst>
          </a:prstGeom>
          <a:solidFill>
            <a:srgbClr val="112B36"/>
          </a:solidFill>
        </p:spPr>
      </p:sp>
      <p:pic>
        <p:nvPicPr>
          <p:cNvPr id="17" name="Image 2" descr="icons/us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" y="4553712"/>
            <a:ext cx="237744" cy="23774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078992" y="4453128"/>
            <a:ext cx="49377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Manual review doesn't scale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1078992" y="4745736"/>
            <a:ext cx="493776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FC3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Analysts triage tickets one at a time. There is no automated, prioritised, evidence-backed list of at-risk customers to work from.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6355080" y="1965960"/>
            <a:ext cx="5257800" cy="3794760"/>
          </a:xfrm>
          <a:prstGeom prst="roundRect">
            <a:avLst>
              <a:gd name="adj" fmla="val 2892"/>
            </a:avLst>
          </a:prstGeom>
          <a:solidFill>
            <a:srgbClr val="112B3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675120" y="2240280"/>
            <a:ext cx="502920" cy="502920"/>
          </a:xfrm>
          <a:prstGeom prst="roundRect">
            <a:avLst>
              <a:gd name="adj" fmla="val 28000"/>
            </a:avLst>
          </a:prstGeom>
          <a:solidFill>
            <a:srgbClr val="0E7C86"/>
          </a:solidFill>
        </p:spPr>
      </p:sp>
      <p:pic>
        <p:nvPicPr>
          <p:cNvPr id="22" name="Image 3" descr="icons/bullsey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6288" y="2441448"/>
            <a:ext cx="100584" cy="10058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360920" y="2258568"/>
            <a:ext cx="40233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Our Objective</a:t>
            </a:r>
            <a:endParaRPr lang="en-US" sz="1700" dirty="0"/>
          </a:p>
        </p:txBody>
      </p:sp>
      <p:sp>
        <p:nvSpPr>
          <p:cNvPr id="24" name="Text 18"/>
          <p:cNvSpPr/>
          <p:nvPr/>
        </p:nvSpPr>
        <p:spPr>
          <a:xfrm>
            <a:off x="6675120" y="2834640"/>
            <a:ext cx="461772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Design and demonstrate an AI prototype that analyses customer interaction data — feedback, support transcripts, and usage patterns — to surface early-warning signals and behavioural trends before they escalate.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6675120" y="3703320"/>
            <a:ext cx="4572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FD6B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prototype must output, per customer:</a:t>
            </a:r>
            <a:endParaRPr lang="en-US" sz="1150" dirty="0"/>
          </a:p>
        </p:txBody>
      </p:sp>
      <p:sp>
        <p:nvSpPr>
          <p:cNvPr id="26" name="Shape 20"/>
          <p:cNvSpPr/>
          <p:nvPr/>
        </p:nvSpPr>
        <p:spPr>
          <a:xfrm>
            <a:off x="6675120" y="4023360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0E7C86"/>
          </a:solidFill>
        </p:spPr>
      </p:sp>
      <p:sp>
        <p:nvSpPr>
          <p:cNvPr id="27" name="Text 21"/>
          <p:cNvSpPr/>
          <p:nvPr/>
        </p:nvSpPr>
        <p:spPr>
          <a:xfrm>
            <a:off x="6675120" y="4023360"/>
            <a:ext cx="329184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7114032" y="4041648"/>
            <a:ext cx="42062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risk / urgency score (0–100), clearly banded</a:t>
            </a:r>
            <a:endParaRPr lang="en-US" sz="1150" dirty="0"/>
          </a:p>
        </p:txBody>
      </p:sp>
      <p:sp>
        <p:nvSpPr>
          <p:cNvPr id="29" name="Shape 23"/>
          <p:cNvSpPr/>
          <p:nvPr/>
        </p:nvSpPr>
        <p:spPr>
          <a:xfrm>
            <a:off x="6675120" y="4480560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0E7C86"/>
          </a:solidFill>
        </p:spPr>
      </p:sp>
      <p:sp>
        <p:nvSpPr>
          <p:cNvPr id="30" name="Text 24"/>
          <p:cNvSpPr/>
          <p:nvPr/>
        </p:nvSpPr>
        <p:spPr>
          <a:xfrm>
            <a:off x="6675120" y="4480560"/>
            <a:ext cx="329184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300" dirty="0"/>
          </a:p>
        </p:txBody>
      </p:sp>
      <p:sp>
        <p:nvSpPr>
          <p:cNvPr id="31" name="Text 25"/>
          <p:cNvSpPr/>
          <p:nvPr/>
        </p:nvSpPr>
        <p:spPr>
          <a:xfrm>
            <a:off x="7114032" y="4498848"/>
            <a:ext cx="42062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prioritised, ranked list of at-risk customers</a:t>
            </a:r>
            <a:endParaRPr lang="en-US" sz="1150" dirty="0"/>
          </a:p>
        </p:txBody>
      </p:sp>
      <p:sp>
        <p:nvSpPr>
          <p:cNvPr id="32" name="Shape 26"/>
          <p:cNvSpPr/>
          <p:nvPr/>
        </p:nvSpPr>
        <p:spPr>
          <a:xfrm>
            <a:off x="6675120" y="4937760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0E7C86"/>
          </a:solidFill>
        </p:spPr>
      </p:sp>
      <p:sp>
        <p:nvSpPr>
          <p:cNvPr id="33" name="Text 27"/>
          <p:cNvSpPr/>
          <p:nvPr/>
        </p:nvSpPr>
        <p:spPr>
          <a:xfrm>
            <a:off x="6675120" y="4937760"/>
            <a:ext cx="329184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300" dirty="0"/>
          </a:p>
        </p:txBody>
      </p:sp>
      <p:sp>
        <p:nvSpPr>
          <p:cNvPr id="34" name="Text 28"/>
          <p:cNvSpPr/>
          <p:nvPr/>
        </p:nvSpPr>
        <p:spPr>
          <a:xfrm>
            <a:off x="7114032" y="4956048"/>
            <a:ext cx="42062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Brief AI rationale, clear for a retention team</a:t>
            </a:r>
            <a:endParaRPr lang="en-US" sz="1150" dirty="0"/>
          </a:p>
        </p:txBody>
      </p:sp>
      <p:sp>
        <p:nvSpPr>
          <p:cNvPr id="35" name="Text 29"/>
          <p:cNvSpPr/>
          <p:nvPr/>
        </p:nvSpPr>
        <p:spPr>
          <a:xfrm>
            <a:off x="548640" y="5852160"/>
            <a:ext cx="258318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FD6B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 days</a:t>
            </a:r>
            <a:endParaRPr lang="en-US" sz="2200" dirty="0"/>
          </a:p>
        </p:txBody>
      </p:sp>
      <p:sp>
        <p:nvSpPr>
          <p:cNvPr id="36" name="Text 30"/>
          <p:cNvSpPr/>
          <p:nvPr/>
        </p:nvSpPr>
        <p:spPr>
          <a:xfrm>
            <a:off x="548640" y="6263640"/>
            <a:ext cx="258318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C3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Build &amp; submission window</a:t>
            </a:r>
            <a:endParaRPr lang="en-US" sz="900" dirty="0"/>
          </a:p>
        </p:txBody>
      </p:sp>
      <p:sp>
        <p:nvSpPr>
          <p:cNvPr id="37" name="Text 31"/>
          <p:cNvSpPr/>
          <p:nvPr/>
        </p:nvSpPr>
        <p:spPr>
          <a:xfrm>
            <a:off x="3314700" y="5852160"/>
            <a:ext cx="258318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FD6B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57</a:t>
            </a:r>
            <a:endParaRPr lang="en-US" sz="2200" dirty="0"/>
          </a:p>
        </p:txBody>
      </p:sp>
      <p:sp>
        <p:nvSpPr>
          <p:cNvPr id="38" name="Text 32"/>
          <p:cNvSpPr/>
          <p:nvPr/>
        </p:nvSpPr>
        <p:spPr>
          <a:xfrm>
            <a:off x="3314700" y="6263640"/>
            <a:ext cx="258318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C3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Structured signal fields per customer</a:t>
            </a:r>
            <a:endParaRPr lang="en-US" sz="900" dirty="0"/>
          </a:p>
        </p:txBody>
      </p:sp>
      <p:sp>
        <p:nvSpPr>
          <p:cNvPr id="39" name="Text 33"/>
          <p:cNvSpPr/>
          <p:nvPr/>
        </p:nvSpPr>
        <p:spPr>
          <a:xfrm>
            <a:off x="6080760" y="5852160"/>
            <a:ext cx="258318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FD6B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200</a:t>
            </a:r>
            <a:endParaRPr lang="en-US" sz="2200" dirty="0"/>
          </a:p>
        </p:txBody>
      </p:sp>
      <p:sp>
        <p:nvSpPr>
          <p:cNvPr id="40" name="Text 34"/>
          <p:cNvSpPr/>
          <p:nvPr/>
        </p:nvSpPr>
        <p:spPr>
          <a:xfrm>
            <a:off x="6080760" y="6263640"/>
            <a:ext cx="258318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C3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Customers in the demo dataset</a:t>
            </a:r>
            <a:endParaRPr lang="en-US" sz="900" dirty="0"/>
          </a:p>
        </p:txBody>
      </p:sp>
      <p:sp>
        <p:nvSpPr>
          <p:cNvPr id="41" name="Text 35"/>
          <p:cNvSpPr/>
          <p:nvPr/>
        </p:nvSpPr>
        <p:spPr>
          <a:xfrm>
            <a:off x="8846820" y="5852160"/>
            <a:ext cx="258318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FD6B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40%</a:t>
            </a:r>
            <a:endParaRPr lang="en-US" sz="2200" dirty="0"/>
          </a:p>
        </p:txBody>
      </p:sp>
      <p:sp>
        <p:nvSpPr>
          <p:cNvPr id="42" name="Text 36"/>
          <p:cNvSpPr/>
          <p:nvPr/>
        </p:nvSpPr>
        <p:spPr>
          <a:xfrm>
            <a:off x="8846820" y="6263640"/>
            <a:ext cx="258318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C3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Of the score is reasoning quality</a:t>
            </a:r>
            <a:endParaRPr lang="en-US" sz="900" dirty="0"/>
          </a:p>
        </p:txBody>
      </p:sp>
      <p:sp>
        <p:nvSpPr>
          <p:cNvPr id="43" name="Text 37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170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Intelligent Customer Signal Detector</a:t>
            </a:r>
            <a:endParaRPr lang="en-US" sz="1000" dirty="0"/>
          </a:p>
        </p:txBody>
      </p:sp>
      <p:sp>
        <p:nvSpPr>
          <p:cNvPr id="44" name="Text 38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170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 / 5</a:t>
            </a:r>
            <a:endParaRPr lang="en-US" sz="1000" dirty="0"/>
          </a:p>
        </p:txBody>
      </p:sp>
      <p:pic>
        <p:nvPicPr>
          <p:cNvPr id="46" name="Image 1" descr="icons/comment.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740664" y="3438144"/>
            <a:ext cx="219456" cy="21945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7C8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SLIDE 2 OF 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0584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E2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Solution Architecture &amp; Design Flow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042416"/>
            <a:ext cx="110642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170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Django app: two data sources are ingested and de-duplicated, scored by a trained ML model, checked against a deterministic rule engine, and explained by an LLM — before reaching the dashboard.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2103120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effectLst>
            <a:outerShdw blurRad="76200" dist="25400" dir="5400000" algn="bl" rotWithShape="0">
              <a:srgbClr val="1B2B32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66928" y="1801368"/>
            <a:ext cx="329184" cy="329184"/>
          </a:xfrm>
          <a:prstGeom prst="roundRect">
            <a:avLst>
              <a:gd name="adj" fmla="val 28000"/>
            </a:avLst>
          </a:prstGeom>
          <a:solidFill>
            <a:srgbClr val="0E7C86"/>
          </a:solidFill>
        </p:spPr>
      </p:sp>
      <p:pic>
        <p:nvPicPr>
          <p:cNvPr id="7" name="Image 0" descr="icons/db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" y="1865376"/>
            <a:ext cx="201168" cy="2011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9264" y="1773936"/>
            <a:ext cx="1463040" cy="2743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B1E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Customer CSV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585216" y="2167128"/>
            <a:ext cx="1847088" cy="32918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800" dirty="0">
                <a:solidFill>
                  <a:srgbClr val="5170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57 structured fields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457200" y="2990088"/>
            <a:ext cx="2103120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effectLst>
            <a:outerShdw blurRad="76200" dist="25400" dir="5400000" algn="bl" rotWithShape="0">
              <a:srgbClr val="1B2B32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66928" y="3099816"/>
            <a:ext cx="329184" cy="329184"/>
          </a:xfrm>
          <a:prstGeom prst="roundRect">
            <a:avLst>
              <a:gd name="adj" fmla="val 28000"/>
            </a:avLst>
          </a:prstGeom>
          <a:solidFill>
            <a:srgbClr val="0E7C86"/>
          </a:solidFill>
        </p:spPr>
      </p:sp>
      <p:sp>
        <p:nvSpPr>
          <p:cNvPr id="13" name="Text 9"/>
          <p:cNvSpPr/>
          <p:nvPr/>
        </p:nvSpPr>
        <p:spPr>
          <a:xfrm>
            <a:off x="969264" y="3072384"/>
            <a:ext cx="1463040" cy="2743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B1E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Support Transcripts (.txt)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585216" y="3465576"/>
            <a:ext cx="1847088" cy="32918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800" dirty="0">
                <a:solidFill>
                  <a:srgbClr val="5170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Call / chat logs</a:t>
            </a:r>
            <a:endParaRPr lang="en-US" sz="800" dirty="0"/>
          </a:p>
        </p:txBody>
      </p:sp>
      <p:sp>
        <p:nvSpPr>
          <p:cNvPr id="15" name="Shape 11"/>
          <p:cNvSpPr/>
          <p:nvPr/>
        </p:nvSpPr>
        <p:spPr>
          <a:xfrm>
            <a:off x="457200" y="1691640"/>
            <a:ext cx="2103120" cy="841248"/>
          </a:xfrm>
          <a:prstGeom prst="roundRect">
            <a:avLst>
              <a:gd name="adj" fmla="val 9783"/>
            </a:avLst>
          </a:prstGeom>
          <a:ln w="12700">
            <a:solidFill>
              <a:srgbClr val="DCE6E8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57200" y="2990088"/>
            <a:ext cx="2103120" cy="841248"/>
          </a:xfrm>
          <a:prstGeom prst="roundRect">
            <a:avLst>
              <a:gd name="adj" fmla="val 9783"/>
            </a:avLst>
          </a:prstGeom>
          <a:ln w="12700">
            <a:solidFill>
              <a:srgbClr val="DCE6E8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2596896" y="2112264"/>
            <a:ext cx="219456" cy="0"/>
          </a:xfrm>
          <a:prstGeom prst="line">
            <a:avLst/>
          </a:prstGeom>
          <a:noFill/>
          <a:ln w="25400">
            <a:solidFill>
              <a:srgbClr val="0E7C86"/>
            </a:solidFill>
            <a:prstDash val="solid"/>
            <a:tailEnd type="triangle"/>
          </a:ln>
        </p:spPr>
      </p:sp>
      <p:sp>
        <p:nvSpPr>
          <p:cNvPr id="18" name="Shape 14"/>
          <p:cNvSpPr/>
          <p:nvPr/>
        </p:nvSpPr>
        <p:spPr>
          <a:xfrm>
            <a:off x="2596896" y="3410712"/>
            <a:ext cx="219456" cy="0"/>
          </a:xfrm>
          <a:prstGeom prst="line">
            <a:avLst/>
          </a:prstGeom>
          <a:noFill/>
          <a:ln w="25400">
            <a:solidFill>
              <a:srgbClr val="0E7C86"/>
            </a:solidFill>
            <a:prstDash val="solid"/>
            <a:tailEnd type="triangle"/>
          </a:ln>
        </p:spPr>
      </p:sp>
      <p:sp>
        <p:nvSpPr>
          <p:cNvPr id="19" name="Shape 15"/>
          <p:cNvSpPr/>
          <p:nvPr/>
        </p:nvSpPr>
        <p:spPr>
          <a:xfrm>
            <a:off x="2834640" y="2340864"/>
            <a:ext cx="1874520" cy="841248"/>
          </a:xfrm>
          <a:prstGeom prst="roundRect">
            <a:avLst>
              <a:gd name="adj" fmla="val 9783"/>
            </a:avLst>
          </a:prstGeom>
          <a:solidFill>
            <a:srgbClr val="0F3140"/>
          </a:solidFill>
          <a:effectLst>
            <a:outerShdw blurRad="76200" dist="25400" dir="5400000" algn="bl" rotWithShape="0">
              <a:srgbClr val="1B2B32">
                <a:alpha val="1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2944368" y="2450592"/>
            <a:ext cx="329184" cy="329184"/>
          </a:xfrm>
          <a:prstGeom prst="roundRect">
            <a:avLst>
              <a:gd name="adj" fmla="val 28000"/>
            </a:avLst>
          </a:prstGeom>
          <a:solidFill>
            <a:srgbClr val="FFFFFF">
              <a:alpha val="25000"/>
            </a:srgbClr>
          </a:solidFill>
        </p:spPr>
      </p:sp>
      <p:pic>
        <p:nvPicPr>
          <p:cNvPr id="21" name="Image 2" descr="icons/uplo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8376" y="2514600"/>
            <a:ext cx="201168" cy="20116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3346704" y="2423160"/>
            <a:ext cx="1234440" cy="2743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Ingestion Layer</a:t>
            </a:r>
            <a:endParaRPr lang="en-US" sz="1050" dirty="0"/>
          </a:p>
        </p:txBody>
      </p:sp>
      <p:sp>
        <p:nvSpPr>
          <p:cNvPr id="23" name="Text 18"/>
          <p:cNvSpPr/>
          <p:nvPr/>
        </p:nvSpPr>
        <p:spPr>
          <a:xfrm>
            <a:off x="2962656" y="2816352"/>
            <a:ext cx="1618488" cy="32918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800" dirty="0">
                <a:solidFill>
                  <a:srgbClr val="9FC3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Parse &amp; dedupe · SQLite</a:t>
            </a:r>
            <a:endParaRPr lang="en-US" sz="800" dirty="0"/>
          </a:p>
        </p:txBody>
      </p:sp>
      <p:sp>
        <p:nvSpPr>
          <p:cNvPr id="24" name="Shape 19"/>
          <p:cNvSpPr/>
          <p:nvPr/>
        </p:nvSpPr>
        <p:spPr>
          <a:xfrm>
            <a:off x="4745736" y="2761488"/>
            <a:ext cx="219456" cy="0"/>
          </a:xfrm>
          <a:prstGeom prst="line">
            <a:avLst/>
          </a:prstGeom>
          <a:noFill/>
          <a:ln w="25400">
            <a:solidFill>
              <a:srgbClr val="0E7C86"/>
            </a:solidFill>
            <a:prstDash val="solid"/>
            <a:tailEnd type="triangle"/>
          </a:ln>
        </p:spPr>
      </p:sp>
      <p:sp>
        <p:nvSpPr>
          <p:cNvPr id="25" name="Shape 20"/>
          <p:cNvSpPr/>
          <p:nvPr/>
        </p:nvSpPr>
        <p:spPr>
          <a:xfrm>
            <a:off x="4983480" y="2340864"/>
            <a:ext cx="1874520" cy="841248"/>
          </a:xfrm>
          <a:prstGeom prst="roundRect">
            <a:avLst>
              <a:gd name="adj" fmla="val 9783"/>
            </a:avLst>
          </a:prstGeom>
          <a:solidFill>
            <a:srgbClr val="0E7C86"/>
          </a:solidFill>
          <a:effectLst>
            <a:outerShdw blurRad="76200" dist="25400" dir="5400000" algn="bl" rotWithShape="0">
              <a:srgbClr val="1B2B32">
                <a:alpha val="18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5093208" y="2450592"/>
            <a:ext cx="329184" cy="329184"/>
          </a:xfrm>
          <a:prstGeom prst="roundRect">
            <a:avLst>
              <a:gd name="adj" fmla="val 28000"/>
            </a:avLst>
          </a:prstGeom>
          <a:solidFill>
            <a:srgbClr val="FFFFFF">
              <a:alpha val="25000"/>
            </a:srgbClr>
          </a:solidFill>
        </p:spPr>
      </p:sp>
      <p:pic>
        <p:nvPicPr>
          <p:cNvPr id="27" name="Image 3" descr="icons/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7216" y="2514600"/>
            <a:ext cx="201168" cy="201168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5495544" y="2423160"/>
            <a:ext cx="1234440" cy="2743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ML Pipeline</a:t>
            </a:r>
            <a:endParaRPr lang="en-US" sz="1050" dirty="0"/>
          </a:p>
        </p:txBody>
      </p:sp>
      <p:sp>
        <p:nvSpPr>
          <p:cNvPr id="29" name="Text 23"/>
          <p:cNvSpPr/>
          <p:nvPr/>
        </p:nvSpPr>
        <p:spPr>
          <a:xfrm>
            <a:off x="5111496" y="2816352"/>
            <a:ext cx="1618488" cy="32918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800" dirty="0">
                <a:solidFill>
                  <a:srgbClr val="9FC3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predict → clip 0–100</a:t>
            </a:r>
            <a:endParaRPr lang="en-US" sz="800" dirty="0"/>
          </a:p>
        </p:txBody>
      </p:sp>
      <p:sp>
        <p:nvSpPr>
          <p:cNvPr id="30" name="Shape 24"/>
          <p:cNvSpPr/>
          <p:nvPr/>
        </p:nvSpPr>
        <p:spPr>
          <a:xfrm>
            <a:off x="6894576" y="2761488"/>
            <a:ext cx="219456" cy="0"/>
          </a:xfrm>
          <a:prstGeom prst="line">
            <a:avLst/>
          </a:prstGeom>
          <a:noFill/>
          <a:ln w="25400">
            <a:solidFill>
              <a:srgbClr val="0E7C86"/>
            </a:solidFill>
            <a:prstDash val="solid"/>
            <a:tailEnd type="triangle"/>
          </a:ln>
        </p:spPr>
      </p:sp>
      <p:sp>
        <p:nvSpPr>
          <p:cNvPr id="31" name="Shape 25"/>
          <p:cNvSpPr/>
          <p:nvPr/>
        </p:nvSpPr>
        <p:spPr>
          <a:xfrm>
            <a:off x="7132320" y="2340864"/>
            <a:ext cx="1874520" cy="841248"/>
          </a:xfrm>
          <a:prstGeom prst="roundRect">
            <a:avLst>
              <a:gd name="adj" fmla="val 9783"/>
            </a:avLst>
          </a:prstGeom>
          <a:solidFill>
            <a:srgbClr val="17A2AE"/>
          </a:solidFill>
          <a:effectLst>
            <a:outerShdw blurRad="76200" dist="25400" dir="5400000" algn="bl" rotWithShape="0">
              <a:srgbClr val="1B2B32">
                <a:alpha val="18000"/>
              </a:srgbClr>
            </a:outerShdw>
          </a:effectLst>
        </p:spPr>
        <p:txBody>
          <a:bodyPr/>
          <a:p>
            <a:endParaRPr lang="en-GB" altLang="en-US"/>
          </a:p>
        </p:txBody>
      </p:sp>
      <p:sp>
        <p:nvSpPr>
          <p:cNvPr id="32" name="Shape 26"/>
          <p:cNvSpPr/>
          <p:nvPr/>
        </p:nvSpPr>
        <p:spPr>
          <a:xfrm>
            <a:off x="7242048" y="2450592"/>
            <a:ext cx="329184" cy="329184"/>
          </a:xfrm>
          <a:prstGeom prst="roundRect">
            <a:avLst>
              <a:gd name="adj" fmla="val 28000"/>
            </a:avLst>
          </a:prstGeom>
          <a:solidFill>
            <a:srgbClr val="FFFFFF">
              <a:alpha val="25000"/>
            </a:srgbClr>
          </a:solidFill>
        </p:spPr>
      </p:sp>
      <p:pic>
        <p:nvPicPr>
          <p:cNvPr id="33" name="Image 4" descr="icons/shie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6056" y="2514600"/>
            <a:ext cx="201168" cy="201168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7644384" y="2423160"/>
            <a:ext cx="1234440" cy="2743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Signal Rule Engine</a:t>
            </a:r>
            <a:endParaRPr lang="en-US" sz="1050" dirty="0"/>
          </a:p>
        </p:txBody>
      </p:sp>
      <p:sp>
        <p:nvSpPr>
          <p:cNvPr id="35" name="Text 28"/>
          <p:cNvSpPr/>
          <p:nvPr/>
        </p:nvSpPr>
        <p:spPr>
          <a:xfrm>
            <a:off x="7260336" y="2816352"/>
            <a:ext cx="1618488" cy="32918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800" dirty="0">
                <a:solidFill>
                  <a:srgbClr val="9FC3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Deterministic flags</a:t>
            </a:r>
            <a:endParaRPr lang="en-US" sz="800" dirty="0"/>
          </a:p>
        </p:txBody>
      </p:sp>
      <p:sp>
        <p:nvSpPr>
          <p:cNvPr id="36" name="Shape 29"/>
          <p:cNvSpPr/>
          <p:nvPr/>
        </p:nvSpPr>
        <p:spPr>
          <a:xfrm>
            <a:off x="8069580" y="3227832"/>
            <a:ext cx="0" cy="347472"/>
          </a:xfrm>
          <a:prstGeom prst="line">
            <a:avLst/>
          </a:prstGeom>
          <a:noFill/>
          <a:ln w="25400">
            <a:solidFill>
              <a:srgbClr val="0E7C86"/>
            </a:solidFill>
            <a:prstDash val="solid"/>
            <a:tailEnd type="triangle"/>
          </a:ln>
        </p:spPr>
      </p:sp>
      <p:sp>
        <p:nvSpPr>
          <p:cNvPr id="37" name="Shape 30"/>
          <p:cNvSpPr/>
          <p:nvPr/>
        </p:nvSpPr>
        <p:spPr>
          <a:xfrm>
            <a:off x="6606540" y="3575304"/>
            <a:ext cx="2926080" cy="841248"/>
          </a:xfrm>
          <a:prstGeom prst="roundRect">
            <a:avLst>
              <a:gd name="adj" fmla="val 9783"/>
            </a:avLst>
          </a:prstGeom>
          <a:solidFill>
            <a:srgbClr val="0B1E27"/>
          </a:solidFill>
          <a:effectLst>
            <a:outerShdw blurRad="76200" dist="25400" dir="5400000" algn="bl" rotWithShape="0">
              <a:srgbClr val="1B2B32">
                <a:alpha val="18000"/>
              </a:srgbClr>
            </a:outerShdw>
          </a:effectLst>
        </p:spPr>
      </p:sp>
      <p:sp>
        <p:nvSpPr>
          <p:cNvPr id="38" name="Shape 31"/>
          <p:cNvSpPr/>
          <p:nvPr/>
        </p:nvSpPr>
        <p:spPr>
          <a:xfrm>
            <a:off x="6716268" y="3685032"/>
            <a:ext cx="329184" cy="329184"/>
          </a:xfrm>
          <a:prstGeom prst="roundRect">
            <a:avLst>
              <a:gd name="adj" fmla="val 28000"/>
            </a:avLst>
          </a:prstGeom>
          <a:solidFill>
            <a:srgbClr val="FFFFFF">
              <a:alpha val="25000"/>
            </a:srgbClr>
          </a:solidFill>
        </p:spPr>
      </p:sp>
      <p:pic>
        <p:nvPicPr>
          <p:cNvPr id="39" name="Image 5" descr="icons/robo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0276" y="3749040"/>
            <a:ext cx="201168" cy="201168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7118604" y="3657600"/>
            <a:ext cx="2286000" cy="2743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LLM Rationale Layer</a:t>
            </a:r>
            <a:endParaRPr lang="en-US" sz="1050" dirty="0"/>
          </a:p>
        </p:txBody>
      </p:sp>
      <p:sp>
        <p:nvSpPr>
          <p:cNvPr id="41" name="Text 33"/>
          <p:cNvSpPr/>
          <p:nvPr/>
        </p:nvSpPr>
        <p:spPr>
          <a:xfrm>
            <a:off x="6734556" y="4050792"/>
            <a:ext cx="2670048" cy="32918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800" dirty="0">
                <a:solidFill>
                  <a:srgbClr val="9FC3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LangChain + Groq · cached per customer</a:t>
            </a:r>
            <a:endParaRPr lang="en-US" sz="800" dirty="0"/>
          </a:p>
        </p:txBody>
      </p:sp>
      <p:sp>
        <p:nvSpPr>
          <p:cNvPr id="42" name="Shape 34"/>
          <p:cNvSpPr/>
          <p:nvPr/>
        </p:nvSpPr>
        <p:spPr>
          <a:xfrm>
            <a:off x="8069580" y="4462272"/>
            <a:ext cx="0" cy="347472"/>
          </a:xfrm>
          <a:prstGeom prst="line">
            <a:avLst/>
          </a:prstGeom>
          <a:noFill/>
          <a:ln w="25400">
            <a:solidFill>
              <a:srgbClr val="0E7C86"/>
            </a:solidFill>
            <a:prstDash val="solid"/>
            <a:tailEnd type="triangle"/>
          </a:ln>
        </p:spPr>
      </p:sp>
      <p:sp>
        <p:nvSpPr>
          <p:cNvPr id="43" name="Shape 35"/>
          <p:cNvSpPr/>
          <p:nvPr/>
        </p:nvSpPr>
        <p:spPr>
          <a:xfrm>
            <a:off x="457200" y="4809744"/>
            <a:ext cx="11292840" cy="868680"/>
          </a:xfrm>
          <a:prstGeom prst="roundRect">
            <a:avLst>
              <a:gd name="adj" fmla="val 9474"/>
            </a:avLst>
          </a:prstGeom>
          <a:solidFill>
            <a:srgbClr val="3FD6BE"/>
          </a:solidFill>
          <a:effectLst>
            <a:outerShdw blurRad="76200" dist="25400" dir="5400000" algn="bl" rotWithShape="0">
              <a:srgbClr val="1B2B32">
                <a:alpha val="18000"/>
              </a:srgbClr>
            </a:outerShdw>
          </a:effectLst>
        </p:spPr>
      </p:sp>
      <p:sp>
        <p:nvSpPr>
          <p:cNvPr id="44" name="Shape 36"/>
          <p:cNvSpPr/>
          <p:nvPr/>
        </p:nvSpPr>
        <p:spPr>
          <a:xfrm>
            <a:off x="640080" y="4983480"/>
            <a:ext cx="512064" cy="512064"/>
          </a:xfrm>
          <a:prstGeom prst="roundRect">
            <a:avLst>
              <a:gd name="adj" fmla="val 28000"/>
            </a:avLst>
          </a:prstGeom>
          <a:solidFill>
            <a:srgbClr val="FFFFFF">
              <a:alpha val="40000"/>
            </a:srgbClr>
          </a:solidFill>
        </p:spPr>
      </p:sp>
      <p:pic>
        <p:nvPicPr>
          <p:cNvPr id="45" name="Image 6" descr="icons/lay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0664" y="5084064"/>
            <a:ext cx="310896" cy="310896"/>
          </a:xfrm>
          <a:prstGeom prst="rect">
            <a:avLst/>
          </a:prstGeom>
        </p:spPr>
      </p:pic>
      <p:sp>
        <p:nvSpPr>
          <p:cNvPr id="46" name="Text 37"/>
          <p:cNvSpPr/>
          <p:nvPr/>
        </p:nvSpPr>
        <p:spPr>
          <a:xfrm>
            <a:off x="1325880" y="4919472"/>
            <a:ext cx="59436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E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Django Templates — Operations Dashboard</a:t>
            </a:r>
            <a:endParaRPr lang="en-US" sz="1300" dirty="0"/>
          </a:p>
        </p:txBody>
      </p:sp>
      <p:sp>
        <p:nvSpPr>
          <p:cNvPr id="47" name="Text 38"/>
          <p:cNvSpPr/>
          <p:nvPr/>
        </p:nvSpPr>
        <p:spPr>
          <a:xfrm>
            <a:off x="1325880" y="5230368"/>
            <a:ext cx="99669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1E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Overview  ·  Customer Signals  ·  Customer Detail  ·  Model Insights  ·  Data / Upload  ·  Coming Soon</a:t>
            </a:r>
            <a:endParaRPr lang="en-US" sz="1000" dirty="0"/>
          </a:p>
        </p:txBody>
      </p:sp>
      <p:sp>
        <p:nvSpPr>
          <p:cNvPr id="48" name="Text 39"/>
          <p:cNvSpPr/>
          <p:nvPr/>
        </p:nvSpPr>
        <p:spPr>
          <a:xfrm>
            <a:off x="7589520" y="4919472"/>
            <a:ext cx="35661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GB" altLang="en-US" sz="900" i="1" dirty="0">
                <a:solidFill>
                  <a:srgbClr val="2E4A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endParaRPr lang="en-GB" altLang="en-US" sz="900" i="1" dirty="0">
              <a:solidFill>
                <a:srgbClr val="2E4A5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49" name="Text 40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170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Intelligent Customer Signal Detector</a:t>
            </a:r>
            <a:endParaRPr lang="en-US" sz="1000" dirty="0"/>
          </a:p>
        </p:txBody>
      </p:sp>
      <p:sp>
        <p:nvSpPr>
          <p:cNvPr id="50" name="Text 41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170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 / 5</a:t>
            </a:r>
            <a:endParaRPr lang="en-US" sz="1000" dirty="0"/>
          </a:p>
        </p:txBody>
      </p:sp>
      <p:pic>
        <p:nvPicPr>
          <p:cNvPr id="51" name="Image 1" descr="icons/comment.png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640334" y="3146044"/>
            <a:ext cx="219456" cy="21945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4572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7C8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SLIDE 3 OF 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91440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E2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Implementation Highlights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078992"/>
            <a:ext cx="10515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170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technical decisions across the ML pipeline, the reasoning layer, and the operational UI.</a:t>
            </a:r>
            <a:endParaRPr lang="en-US" sz="1250" dirty="0"/>
          </a:p>
        </p:txBody>
      </p:sp>
      <p:sp>
        <p:nvSpPr>
          <p:cNvPr id="5" name="Shape 3"/>
          <p:cNvSpPr/>
          <p:nvPr>
            <p:custDataLst>
              <p:tags r:id="rId1"/>
            </p:custDataLst>
          </p:nvPr>
        </p:nvSpPr>
        <p:spPr>
          <a:xfrm>
            <a:off x="548640" y="1691640"/>
            <a:ext cx="33375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CE6E8"/>
            </a:solidFill>
            <a:prstDash val="solid"/>
          </a:ln>
          <a:effectLst>
            <a:outerShdw blurRad="63500" dist="25400" dir="5400000" algn="bl" rotWithShape="0">
              <a:srgbClr val="1B2B32">
                <a:alpha val="10000"/>
              </a:srgbClr>
            </a:outerShdw>
          </a:effectLst>
        </p:spPr>
      </p:sp>
      <p:sp>
        <p:nvSpPr>
          <p:cNvPr id="6" name="Shape 4"/>
          <p:cNvSpPr/>
          <p:nvPr>
            <p:custDataLst>
              <p:tags r:id="rId2"/>
            </p:custDataLst>
          </p:nvPr>
        </p:nvSpPr>
        <p:spPr>
          <a:xfrm>
            <a:off x="749808" y="1892808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0E7C86"/>
          </a:solidFill>
        </p:spPr>
      </p:sp>
      <p:pic>
        <p:nvPicPr>
          <p:cNvPr id="7" name="Image 0" descr="icons/chart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841248" y="1984248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>
            <p:custDataLst>
              <p:tags r:id="rId5"/>
            </p:custDataLst>
          </p:nvPr>
        </p:nvSpPr>
        <p:spPr>
          <a:xfrm>
            <a:off x="1371600" y="1911096"/>
            <a:ext cx="23317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1E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Grounded ML Scoring</a:t>
            </a:r>
            <a:endParaRPr lang="en-US" sz="1350" dirty="0"/>
          </a:p>
        </p:txBody>
      </p:sp>
      <p:sp>
        <p:nvSpPr>
          <p:cNvPr id="9" name="Text 6"/>
          <p:cNvSpPr/>
          <p:nvPr>
            <p:custDataLst>
              <p:tags r:id="rId6"/>
            </p:custDataLst>
          </p:nvPr>
        </p:nvSpPr>
        <p:spPr>
          <a:xfrm>
            <a:off x="749808" y="2468880"/>
            <a:ext cx="2935224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170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trained regression model predicts a 0–100 churn score from 57 structured fields. Risk bands (High ≥70 / Attention 40–69 / Low &lt;40) are fixed thresholds, documented once — never changed mid-demo.</a:t>
            </a:r>
            <a:endParaRPr lang="en-US" sz="1050" dirty="0"/>
          </a:p>
        </p:txBody>
      </p:sp>
      <p:sp>
        <p:nvSpPr>
          <p:cNvPr id="10" name="Shape 7"/>
          <p:cNvSpPr/>
          <p:nvPr>
            <p:custDataLst>
              <p:tags r:id="rId7"/>
            </p:custDataLst>
          </p:nvPr>
        </p:nvSpPr>
        <p:spPr>
          <a:xfrm>
            <a:off x="4142232" y="1691640"/>
            <a:ext cx="33375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CE6E8"/>
            </a:solidFill>
            <a:prstDash val="solid"/>
          </a:ln>
          <a:effectLst>
            <a:outerShdw blurRad="63500" dist="25400" dir="5400000" algn="bl" rotWithShape="0">
              <a:srgbClr val="1B2B32">
                <a:alpha val="10000"/>
              </a:srgbClr>
            </a:outerShdw>
          </a:effectLst>
        </p:spPr>
      </p:sp>
      <p:sp>
        <p:nvSpPr>
          <p:cNvPr id="11" name="Shape 8"/>
          <p:cNvSpPr/>
          <p:nvPr>
            <p:custDataLst>
              <p:tags r:id="rId8"/>
            </p:custDataLst>
          </p:nvPr>
        </p:nvSpPr>
        <p:spPr>
          <a:xfrm>
            <a:off x="4343400" y="1892808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0E7C86"/>
          </a:solidFill>
        </p:spPr>
      </p:sp>
      <p:pic>
        <p:nvPicPr>
          <p:cNvPr id="12" name="Image 1" descr="icons/shield.png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4434840" y="1984248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>
            <p:custDataLst>
              <p:tags r:id="rId11"/>
            </p:custDataLst>
          </p:nvPr>
        </p:nvSpPr>
        <p:spPr>
          <a:xfrm>
            <a:off x="4965192" y="1911096"/>
            <a:ext cx="23317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1E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Rule Engine Before LLM</a:t>
            </a:r>
            <a:endParaRPr lang="en-US" sz="1350" dirty="0"/>
          </a:p>
        </p:txBody>
      </p:sp>
      <p:sp>
        <p:nvSpPr>
          <p:cNvPr id="14" name="Text 10"/>
          <p:cNvSpPr/>
          <p:nvPr>
            <p:custDataLst>
              <p:tags r:id="rId12"/>
            </p:custDataLst>
          </p:nvPr>
        </p:nvSpPr>
        <p:spPr>
          <a:xfrm>
            <a:off x="4343400" y="2468880"/>
            <a:ext cx="2935224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170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deterministic rule layer flags concerns first (low satisfaction, open issues, negative sentiment). The LLM explains those flags in plain language — it never invents its own signals.</a:t>
            </a:r>
            <a:endParaRPr lang="en-US" sz="1050" dirty="0"/>
          </a:p>
        </p:txBody>
      </p:sp>
      <p:sp>
        <p:nvSpPr>
          <p:cNvPr id="15" name="Shape 11"/>
          <p:cNvSpPr/>
          <p:nvPr>
            <p:custDataLst>
              <p:tags r:id="rId13"/>
            </p:custDataLst>
          </p:nvPr>
        </p:nvSpPr>
        <p:spPr>
          <a:xfrm>
            <a:off x="7735824" y="1691640"/>
            <a:ext cx="33375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CE6E8"/>
            </a:solidFill>
            <a:prstDash val="solid"/>
          </a:ln>
          <a:effectLst>
            <a:outerShdw blurRad="63500" dist="25400" dir="5400000" algn="bl" rotWithShape="0">
              <a:srgbClr val="1B2B32">
                <a:alpha val="10000"/>
              </a:srgbClr>
            </a:outerShdw>
          </a:effectLst>
        </p:spPr>
      </p:sp>
      <p:sp>
        <p:nvSpPr>
          <p:cNvPr id="16" name="Shape 12"/>
          <p:cNvSpPr/>
          <p:nvPr>
            <p:custDataLst>
              <p:tags r:id="rId14"/>
            </p:custDataLst>
          </p:nvPr>
        </p:nvSpPr>
        <p:spPr>
          <a:xfrm>
            <a:off x="7936992" y="1892808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0E7C86"/>
          </a:solidFill>
        </p:spPr>
      </p:sp>
      <p:pic>
        <p:nvPicPr>
          <p:cNvPr id="17" name="Image 2" descr="icons/robot.png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/>
          <a:stretch>
            <a:fillRect/>
          </a:stretch>
        </p:blipFill>
        <p:spPr>
          <a:xfrm>
            <a:off x="8028432" y="1984248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>
            <p:custDataLst>
              <p:tags r:id="rId17"/>
            </p:custDataLst>
          </p:nvPr>
        </p:nvSpPr>
        <p:spPr>
          <a:xfrm>
            <a:off x="8558784" y="1911096"/>
            <a:ext cx="23317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1E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Cached, On-Demand Rationale</a:t>
            </a:r>
            <a:endParaRPr lang="en-US" sz="1350" dirty="0"/>
          </a:p>
        </p:txBody>
      </p:sp>
      <p:sp>
        <p:nvSpPr>
          <p:cNvPr id="19" name="Text 14"/>
          <p:cNvSpPr/>
          <p:nvPr>
            <p:custDataLst>
              <p:tags r:id="rId18"/>
            </p:custDataLst>
          </p:nvPr>
        </p:nvSpPr>
        <p:spPr>
          <a:xfrm>
            <a:off x="7936992" y="2468880"/>
            <a:ext cx="2935224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170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LangChain + Groq generate the “Why Flagged” rationale only when a customer card is opened, then cache it — first open takes seconds, every reopen is instant.</a:t>
            </a:r>
            <a:endParaRPr lang="en-US" sz="1050" dirty="0"/>
          </a:p>
        </p:txBody>
      </p:sp>
      <p:sp>
        <p:nvSpPr>
          <p:cNvPr id="20" name="Shape 15"/>
          <p:cNvSpPr/>
          <p:nvPr>
            <p:custDataLst>
              <p:tags r:id="rId19"/>
            </p:custDataLst>
          </p:nvPr>
        </p:nvSpPr>
        <p:spPr>
          <a:xfrm>
            <a:off x="548640" y="3913632"/>
            <a:ext cx="33375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CE6E8"/>
            </a:solidFill>
            <a:prstDash val="solid"/>
          </a:ln>
          <a:effectLst>
            <a:outerShdw blurRad="63500" dist="25400" dir="5400000" algn="bl" rotWithShape="0">
              <a:srgbClr val="1B2B32">
                <a:alpha val="10000"/>
              </a:srgbClr>
            </a:outerShdw>
          </a:effectLst>
        </p:spPr>
      </p:sp>
      <p:sp>
        <p:nvSpPr>
          <p:cNvPr id="21" name="Shape 16"/>
          <p:cNvSpPr/>
          <p:nvPr>
            <p:custDataLst>
              <p:tags r:id="rId20"/>
            </p:custDataLst>
          </p:nvPr>
        </p:nvSpPr>
        <p:spPr>
          <a:xfrm>
            <a:off x="749808" y="4114800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0E7C86"/>
          </a:solidFill>
        </p:spPr>
      </p:sp>
      <p:pic>
        <p:nvPicPr>
          <p:cNvPr id="22" name="Image 3" descr="icons/filter.png"/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22"/>
          <a:stretch>
            <a:fillRect/>
          </a:stretch>
        </p:blipFill>
        <p:spPr>
          <a:xfrm>
            <a:off x="841248" y="4206240"/>
            <a:ext cx="274320" cy="274320"/>
          </a:xfrm>
          <a:prstGeom prst="rect">
            <a:avLst/>
          </a:prstGeom>
        </p:spPr>
      </p:pic>
      <p:sp>
        <p:nvSpPr>
          <p:cNvPr id="23" name="Text 17"/>
          <p:cNvSpPr/>
          <p:nvPr>
            <p:custDataLst>
              <p:tags r:id="rId23"/>
            </p:custDataLst>
          </p:nvPr>
        </p:nvSpPr>
        <p:spPr>
          <a:xfrm>
            <a:off x="1371600" y="4133088"/>
            <a:ext cx="23317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1E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Operational Table + Filters</a:t>
            </a:r>
            <a:endParaRPr lang="en-US" sz="1350" dirty="0"/>
          </a:p>
        </p:txBody>
      </p:sp>
      <p:sp>
        <p:nvSpPr>
          <p:cNvPr id="24" name="Text 18"/>
          <p:cNvSpPr/>
          <p:nvPr>
            <p:custDataLst>
              <p:tags r:id="rId24"/>
            </p:custDataLst>
          </p:nvPr>
        </p:nvSpPr>
        <p:spPr>
          <a:xfrm>
            <a:off x="749808" y="4690872"/>
            <a:ext cx="2935224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170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Search by ID; filter by risk band, sentiment, resolution status, and contract type. Every row is click-through to a full evidence-backed customer profile.</a:t>
            </a:r>
            <a:endParaRPr lang="en-US" sz="1050" dirty="0"/>
          </a:p>
        </p:txBody>
      </p:sp>
      <p:sp>
        <p:nvSpPr>
          <p:cNvPr id="25" name="Shape 19"/>
          <p:cNvSpPr/>
          <p:nvPr>
            <p:custDataLst>
              <p:tags r:id="rId25"/>
            </p:custDataLst>
          </p:nvPr>
        </p:nvSpPr>
        <p:spPr>
          <a:xfrm>
            <a:off x="4142232" y="3913632"/>
            <a:ext cx="33375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CE6E8"/>
            </a:solidFill>
            <a:prstDash val="solid"/>
          </a:ln>
          <a:effectLst>
            <a:outerShdw blurRad="63500" dist="25400" dir="5400000" algn="bl" rotWithShape="0">
              <a:srgbClr val="1B2B32">
                <a:alpha val="10000"/>
              </a:srgbClr>
            </a:outerShdw>
          </a:effectLst>
        </p:spPr>
      </p:sp>
      <p:sp>
        <p:nvSpPr>
          <p:cNvPr id="26" name="Shape 20"/>
          <p:cNvSpPr/>
          <p:nvPr>
            <p:custDataLst>
              <p:tags r:id="rId26"/>
            </p:custDataLst>
          </p:nvPr>
        </p:nvSpPr>
        <p:spPr>
          <a:xfrm>
            <a:off x="4343400" y="4114800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0E7C86"/>
          </a:solidFill>
        </p:spPr>
      </p:sp>
      <p:pic>
        <p:nvPicPr>
          <p:cNvPr id="27" name="Image 4" descr="icons/comment.png"/>
          <p:cNvPicPr>
            <a:picLocks noChangeAspect="1"/>
          </p:cNvPicPr>
          <p:nvPr>
            <p:custDataLst>
              <p:tags r:id="rId27"/>
            </p:custDataLst>
          </p:nvPr>
        </p:nvPicPr>
        <p:blipFill>
          <a:blip r:embed="rId28"/>
          <a:stretch>
            <a:fillRect/>
          </a:stretch>
        </p:blipFill>
        <p:spPr>
          <a:xfrm>
            <a:off x="4434840" y="4206240"/>
            <a:ext cx="274320" cy="274320"/>
          </a:xfrm>
          <a:prstGeom prst="rect">
            <a:avLst/>
          </a:prstGeom>
        </p:spPr>
      </p:pic>
      <p:sp>
        <p:nvSpPr>
          <p:cNvPr id="28" name="Text 21"/>
          <p:cNvSpPr/>
          <p:nvPr>
            <p:custDataLst>
              <p:tags r:id="rId29"/>
            </p:custDataLst>
          </p:nvPr>
        </p:nvSpPr>
        <p:spPr>
          <a:xfrm>
            <a:off x="4965192" y="4133088"/>
            <a:ext cx="23317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1E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Transcript-Aware Detail View</a:t>
            </a:r>
            <a:endParaRPr lang="en-US" sz="1350" dirty="0"/>
          </a:p>
        </p:txBody>
      </p:sp>
      <p:sp>
        <p:nvSpPr>
          <p:cNvPr id="29" name="Text 22"/>
          <p:cNvSpPr/>
          <p:nvPr>
            <p:custDataLst>
              <p:tags r:id="rId30"/>
            </p:custDataLst>
          </p:nvPr>
        </p:nvSpPr>
        <p:spPr>
          <a:xfrm>
            <a:off x="4343400" y="4690872"/>
            <a:ext cx="2935224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170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Support conversations render as colour-coded chat bubbles beside the model output — evidence and explanation sit next to the source text.</a:t>
            </a:r>
            <a:endParaRPr lang="en-US" sz="1050" dirty="0"/>
          </a:p>
        </p:txBody>
      </p:sp>
      <p:sp>
        <p:nvSpPr>
          <p:cNvPr id="30" name="Shape 23"/>
          <p:cNvSpPr/>
          <p:nvPr>
            <p:custDataLst>
              <p:tags r:id="rId31"/>
            </p:custDataLst>
          </p:nvPr>
        </p:nvSpPr>
        <p:spPr>
          <a:xfrm>
            <a:off x="7735824" y="3913632"/>
            <a:ext cx="33375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CE6E8"/>
            </a:solidFill>
            <a:prstDash val="solid"/>
          </a:ln>
          <a:effectLst>
            <a:outerShdw blurRad="63500" dist="25400" dir="5400000" algn="bl" rotWithShape="0">
              <a:srgbClr val="1B2B32">
                <a:alpha val="10000"/>
              </a:srgbClr>
            </a:outerShdw>
          </a:effectLst>
        </p:spPr>
      </p:sp>
      <p:sp>
        <p:nvSpPr>
          <p:cNvPr id="31" name="Shape 24"/>
          <p:cNvSpPr/>
          <p:nvPr>
            <p:custDataLst>
              <p:tags r:id="rId32"/>
            </p:custDataLst>
          </p:nvPr>
        </p:nvSpPr>
        <p:spPr>
          <a:xfrm>
            <a:off x="7936992" y="4114800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0E7C86"/>
          </a:solidFill>
        </p:spPr>
      </p:sp>
      <p:pic>
        <p:nvPicPr>
          <p:cNvPr id="32" name="Image 5" descr="icons/bolt.png"/>
          <p:cNvPicPr>
            <a:picLocks noChangeAspect="1"/>
          </p:cNvPicPr>
          <p:nvPr>
            <p:custDataLst>
              <p:tags r:id="rId33"/>
            </p:custDataLst>
          </p:nvPr>
        </p:nvPicPr>
        <p:blipFill>
          <a:blip r:embed="rId34"/>
          <a:stretch>
            <a:fillRect/>
          </a:stretch>
        </p:blipFill>
        <p:spPr>
          <a:xfrm>
            <a:off x="8028432" y="4206240"/>
            <a:ext cx="274320" cy="274320"/>
          </a:xfrm>
          <a:prstGeom prst="rect">
            <a:avLst/>
          </a:prstGeom>
        </p:spPr>
      </p:pic>
      <p:sp>
        <p:nvSpPr>
          <p:cNvPr id="33" name="Text 25"/>
          <p:cNvSpPr/>
          <p:nvPr>
            <p:custDataLst>
              <p:tags r:id="rId35"/>
            </p:custDataLst>
          </p:nvPr>
        </p:nvSpPr>
        <p:spPr>
          <a:xfrm>
            <a:off x="8558784" y="4133088"/>
            <a:ext cx="23317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1E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Resilient by Design</a:t>
            </a:r>
            <a:endParaRPr lang="en-US" sz="1350" dirty="0"/>
          </a:p>
        </p:txBody>
      </p:sp>
      <p:sp>
        <p:nvSpPr>
          <p:cNvPr id="34" name="Text 26"/>
          <p:cNvSpPr/>
          <p:nvPr>
            <p:custDataLst>
              <p:tags r:id="rId36"/>
            </p:custDataLst>
          </p:nvPr>
        </p:nvSpPr>
        <p:spPr>
          <a:xfrm>
            <a:off x="7936992" y="4690872"/>
            <a:ext cx="2935224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170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If the Groq call fails or times out, the UI falls back to a template rationale built from the same rule flags — the dashboard never shows a broken screen.</a:t>
            </a:r>
            <a:endParaRPr lang="en-US" sz="1050" dirty="0"/>
          </a:p>
        </p:txBody>
      </p:sp>
      <p:sp>
        <p:nvSpPr>
          <p:cNvPr id="35" name="Text 2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170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Intelligent Customer Signal Detector</a:t>
            </a:r>
            <a:endParaRPr lang="en-US" sz="1000" dirty="0"/>
          </a:p>
        </p:txBody>
      </p:sp>
      <p:sp>
        <p:nvSpPr>
          <p:cNvPr id="36" name="Text 28"/>
          <p:cNvSpPr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170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 / 5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560320" y="-2286000"/>
            <a:ext cx="6400800" cy="6400800"/>
          </a:xfrm>
          <a:prstGeom prst="ellipse">
            <a:avLst/>
          </a:prstGeom>
          <a:solidFill>
            <a:srgbClr val="0E7C86">
              <a:alpha val="18000"/>
            </a:srgbClr>
          </a:solidFill>
        </p:spPr>
      </p:sp>
      <p:sp>
        <p:nvSpPr>
          <p:cNvPr id="3" name="Text 1"/>
          <p:cNvSpPr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FD6B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SLIDE 4 OF 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91440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Challenges &amp; Learnings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10515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FC3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Trade-offs made under a 3-day build window, and what each one taught us.</a:t>
            </a:r>
            <a:endParaRPr lang="en-US" sz="1150" dirty="0"/>
          </a:p>
        </p:txBody>
      </p:sp>
      <p:sp>
        <p:nvSpPr>
          <p:cNvPr id="6" name="Shape 4"/>
          <p:cNvSpPr/>
          <p:nvPr>
            <p:custDataLst>
              <p:tags r:id="rId1"/>
            </p:custDataLst>
          </p:nvPr>
        </p:nvSpPr>
        <p:spPr>
          <a:xfrm>
            <a:off x="548640" y="1600200"/>
            <a:ext cx="5257800" cy="2240280"/>
          </a:xfrm>
          <a:prstGeom prst="roundRect">
            <a:avLst>
              <a:gd name="adj" fmla="val 4082"/>
            </a:avLst>
          </a:prstGeom>
          <a:solidFill>
            <a:srgbClr val="112B36"/>
          </a:solidFill>
          <a:ln w="9525">
            <a:solidFill>
              <a:srgbClr val="0E7C86"/>
            </a:solidFill>
            <a:prstDash val="solid"/>
          </a:ln>
        </p:spPr>
      </p:sp>
      <p:sp>
        <p:nvSpPr>
          <p:cNvPr id="7" name="Shape 5"/>
          <p:cNvSpPr/>
          <p:nvPr>
            <p:custDataLst>
              <p:tags r:id="rId2"/>
            </p:custDataLst>
          </p:nvPr>
        </p:nvSpPr>
        <p:spPr>
          <a:xfrm>
            <a:off x="749808" y="1801368"/>
            <a:ext cx="420624" cy="420624"/>
          </a:xfrm>
          <a:prstGeom prst="roundRect">
            <a:avLst>
              <a:gd name="adj" fmla="val 28000"/>
            </a:avLst>
          </a:prstGeom>
          <a:solidFill>
            <a:srgbClr val="0E7C86"/>
          </a:solidFill>
        </p:spPr>
      </p:sp>
      <p:pic>
        <p:nvPicPr>
          <p:cNvPr id="8" name="Image 0" descr="icons/warn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841248" y="1892808"/>
            <a:ext cx="237744" cy="237744"/>
          </a:xfrm>
          <a:prstGeom prst="rect">
            <a:avLst/>
          </a:prstGeom>
        </p:spPr>
      </p:pic>
      <p:sp>
        <p:nvSpPr>
          <p:cNvPr id="9" name="Text 6"/>
          <p:cNvSpPr/>
          <p:nvPr>
            <p:custDataLst>
              <p:tags r:id="rId5"/>
            </p:custDataLst>
          </p:nvPr>
        </p:nvSpPr>
        <p:spPr>
          <a:xfrm>
            <a:off x="1298448" y="1783080"/>
            <a:ext cx="434340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FD6B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Explanation vs. hallucination</a:t>
            </a:r>
            <a:endParaRPr lang="en-US" sz="1250" dirty="0"/>
          </a:p>
        </p:txBody>
      </p:sp>
      <p:sp>
        <p:nvSpPr>
          <p:cNvPr id="10" name="Text 7"/>
          <p:cNvSpPr/>
          <p:nvPr>
            <p:custDataLst>
              <p:tags r:id="rId6"/>
            </p:custDataLst>
          </p:nvPr>
        </p:nvSpPr>
        <p:spPr>
          <a:xfrm>
            <a:off x="1298448" y="2075688"/>
            <a:ext cx="43434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FC3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Trade-off: LLM autonomy vs. reliability</a:t>
            </a:r>
            <a:endParaRPr lang="en-US" sz="900" dirty="0"/>
          </a:p>
        </p:txBody>
      </p:sp>
      <p:sp>
        <p:nvSpPr>
          <p:cNvPr id="11" name="Text 8"/>
          <p:cNvSpPr/>
          <p:nvPr>
            <p:custDataLst>
              <p:tags r:id="rId7"/>
            </p:custDataLst>
          </p:nvPr>
        </p:nvSpPr>
        <p:spPr>
          <a:xfrm>
            <a:off x="749808" y="2423160"/>
            <a:ext cx="4855464" cy="12527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An LLM asked to “explain risk” on its own tends to invent plausible-sounding but ungrounded reasons. Fixing this required moving signal detection into a deterministic rule layer and restricting the LLM to explaining only what that layer already found.</a:t>
            </a:r>
            <a:endParaRPr lang="en-US" sz="1000" dirty="0"/>
          </a:p>
        </p:txBody>
      </p:sp>
      <p:sp>
        <p:nvSpPr>
          <p:cNvPr id="12" name="Shape 9"/>
          <p:cNvSpPr/>
          <p:nvPr>
            <p:custDataLst>
              <p:tags r:id="rId8"/>
            </p:custDataLst>
          </p:nvPr>
        </p:nvSpPr>
        <p:spPr>
          <a:xfrm>
            <a:off x="6217920" y="1600200"/>
            <a:ext cx="5257800" cy="2240280"/>
          </a:xfrm>
          <a:prstGeom prst="roundRect">
            <a:avLst>
              <a:gd name="adj" fmla="val 4082"/>
            </a:avLst>
          </a:prstGeom>
          <a:solidFill>
            <a:srgbClr val="112B36"/>
          </a:solidFill>
          <a:ln w="9525">
            <a:solidFill>
              <a:srgbClr val="0E7C86"/>
            </a:solidFill>
            <a:prstDash val="solid"/>
          </a:ln>
        </p:spPr>
      </p:sp>
      <p:sp>
        <p:nvSpPr>
          <p:cNvPr id="13" name="Shape 10"/>
          <p:cNvSpPr/>
          <p:nvPr>
            <p:custDataLst>
              <p:tags r:id="rId9"/>
            </p:custDataLst>
          </p:nvPr>
        </p:nvSpPr>
        <p:spPr>
          <a:xfrm>
            <a:off x="6419088" y="1801368"/>
            <a:ext cx="420624" cy="420624"/>
          </a:xfrm>
          <a:prstGeom prst="roundRect">
            <a:avLst>
              <a:gd name="adj" fmla="val 28000"/>
            </a:avLst>
          </a:prstGeom>
          <a:solidFill>
            <a:srgbClr val="0E7C86"/>
          </a:solidFill>
        </p:spPr>
      </p:sp>
      <p:pic>
        <p:nvPicPr>
          <p:cNvPr id="14" name="Image 1" descr="icons/bolt.png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6510528" y="1892808"/>
            <a:ext cx="237744" cy="237744"/>
          </a:xfrm>
          <a:prstGeom prst="rect">
            <a:avLst/>
          </a:prstGeom>
        </p:spPr>
      </p:pic>
      <p:sp>
        <p:nvSpPr>
          <p:cNvPr id="15" name="Text 11"/>
          <p:cNvSpPr/>
          <p:nvPr>
            <p:custDataLst>
              <p:tags r:id="rId12"/>
            </p:custDataLst>
          </p:nvPr>
        </p:nvSpPr>
        <p:spPr>
          <a:xfrm>
            <a:off x="6967728" y="1783080"/>
            <a:ext cx="434340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FD6B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API cost vs. responsiveness</a:t>
            </a:r>
            <a:endParaRPr lang="en-US" sz="1250" dirty="0"/>
          </a:p>
        </p:txBody>
      </p:sp>
      <p:sp>
        <p:nvSpPr>
          <p:cNvPr id="16" name="Text 12"/>
          <p:cNvSpPr/>
          <p:nvPr>
            <p:custDataLst>
              <p:tags r:id="rId13"/>
            </p:custDataLst>
          </p:nvPr>
        </p:nvSpPr>
        <p:spPr>
          <a:xfrm>
            <a:off x="6967728" y="2075688"/>
            <a:ext cx="43434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FC3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Trade-off: batch pre-compute vs. on-demand</a:t>
            </a:r>
            <a:endParaRPr lang="en-US" sz="900" dirty="0"/>
          </a:p>
        </p:txBody>
      </p:sp>
      <p:sp>
        <p:nvSpPr>
          <p:cNvPr id="17" name="Text 13"/>
          <p:cNvSpPr/>
          <p:nvPr>
            <p:custDataLst>
              <p:tags r:id="rId14"/>
            </p:custDataLst>
          </p:nvPr>
        </p:nvSpPr>
        <p:spPr>
          <a:xfrm>
            <a:off x="6419088" y="2423160"/>
            <a:ext cx="4855464" cy="12527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Generating a rationale for all 200 customers up front burns API quota and slows ingest. Switching to on-demand generation with per-customer caching kept the Process step fast and repeat views instant.</a:t>
            </a:r>
            <a:endParaRPr lang="en-US" sz="1000" dirty="0"/>
          </a:p>
        </p:txBody>
      </p:sp>
      <p:sp>
        <p:nvSpPr>
          <p:cNvPr id="18" name="Shape 14"/>
          <p:cNvSpPr/>
          <p:nvPr>
            <p:custDataLst>
              <p:tags r:id="rId15"/>
            </p:custDataLst>
          </p:nvPr>
        </p:nvSpPr>
        <p:spPr>
          <a:xfrm>
            <a:off x="548640" y="4041648"/>
            <a:ext cx="5257800" cy="2240280"/>
          </a:xfrm>
          <a:prstGeom prst="roundRect">
            <a:avLst>
              <a:gd name="adj" fmla="val 4082"/>
            </a:avLst>
          </a:prstGeom>
          <a:solidFill>
            <a:srgbClr val="112B36"/>
          </a:solidFill>
          <a:ln w="9525">
            <a:solidFill>
              <a:srgbClr val="0E7C86"/>
            </a:solidFill>
            <a:prstDash val="solid"/>
          </a:ln>
        </p:spPr>
      </p:sp>
      <p:sp>
        <p:nvSpPr>
          <p:cNvPr id="19" name="Shape 15"/>
          <p:cNvSpPr/>
          <p:nvPr>
            <p:custDataLst>
              <p:tags r:id="rId16"/>
            </p:custDataLst>
          </p:nvPr>
        </p:nvSpPr>
        <p:spPr>
          <a:xfrm>
            <a:off x="749808" y="4242816"/>
            <a:ext cx="420624" cy="420624"/>
          </a:xfrm>
          <a:prstGeom prst="roundRect">
            <a:avLst>
              <a:gd name="adj" fmla="val 28000"/>
            </a:avLst>
          </a:prstGeom>
          <a:solidFill>
            <a:srgbClr val="0E7C86"/>
          </a:solidFill>
        </p:spPr>
      </p:sp>
      <p:pic>
        <p:nvPicPr>
          <p:cNvPr id="20" name="Image 2" descr="icons/db.png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/>
          <a:stretch>
            <a:fillRect/>
          </a:stretch>
        </p:blipFill>
        <p:spPr>
          <a:xfrm>
            <a:off x="841248" y="4334256"/>
            <a:ext cx="237744" cy="237744"/>
          </a:xfrm>
          <a:prstGeom prst="rect">
            <a:avLst/>
          </a:prstGeom>
        </p:spPr>
      </p:pic>
      <p:sp>
        <p:nvSpPr>
          <p:cNvPr id="21" name="Text 16"/>
          <p:cNvSpPr/>
          <p:nvPr>
            <p:custDataLst>
              <p:tags r:id="rId19"/>
            </p:custDataLst>
          </p:nvPr>
        </p:nvSpPr>
        <p:spPr>
          <a:xfrm>
            <a:off x="1298448" y="4224528"/>
            <a:ext cx="434340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FD6B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57 columns vs. decision-relevant fields</a:t>
            </a:r>
            <a:endParaRPr lang="en-US" sz="1250" dirty="0"/>
          </a:p>
        </p:txBody>
      </p:sp>
      <p:sp>
        <p:nvSpPr>
          <p:cNvPr id="22" name="Text 17"/>
          <p:cNvSpPr/>
          <p:nvPr>
            <p:custDataLst>
              <p:tags r:id="rId20"/>
            </p:custDataLst>
          </p:nvPr>
        </p:nvSpPr>
        <p:spPr>
          <a:xfrm>
            <a:off x="1298448" y="4517136"/>
            <a:ext cx="43434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FC3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Trade-off: completeness vs. clarity</a:t>
            </a:r>
            <a:endParaRPr lang="en-US" sz="900" dirty="0"/>
          </a:p>
        </p:txBody>
      </p:sp>
      <p:sp>
        <p:nvSpPr>
          <p:cNvPr id="23" name="Text 18"/>
          <p:cNvSpPr/>
          <p:nvPr>
            <p:custDataLst>
              <p:tags r:id="rId21"/>
            </p:custDataLst>
          </p:nvPr>
        </p:nvSpPr>
        <p:spPr>
          <a:xfrm>
            <a:off x="749808" y="4864608"/>
            <a:ext cx="4855464" cy="12527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Showing every raw CSV column by default turned the customer profile into a database viewer. The fix: a 7-field decision view, with a collapsible “Raw Properties” section for the rest (invalid values auto-filtered).</a:t>
            </a:r>
            <a:endParaRPr lang="en-US" sz="1000" dirty="0"/>
          </a:p>
        </p:txBody>
      </p:sp>
      <p:sp>
        <p:nvSpPr>
          <p:cNvPr id="24" name="Shape 19"/>
          <p:cNvSpPr/>
          <p:nvPr>
            <p:custDataLst>
              <p:tags r:id="rId22"/>
            </p:custDataLst>
          </p:nvPr>
        </p:nvSpPr>
        <p:spPr>
          <a:xfrm>
            <a:off x="6217920" y="4041648"/>
            <a:ext cx="5257800" cy="2240280"/>
          </a:xfrm>
          <a:prstGeom prst="roundRect">
            <a:avLst>
              <a:gd name="adj" fmla="val 4082"/>
            </a:avLst>
          </a:prstGeom>
          <a:solidFill>
            <a:srgbClr val="112B36"/>
          </a:solidFill>
          <a:ln w="9525">
            <a:solidFill>
              <a:srgbClr val="0E7C86"/>
            </a:solidFill>
            <a:prstDash val="solid"/>
          </a:ln>
        </p:spPr>
      </p:sp>
      <p:sp>
        <p:nvSpPr>
          <p:cNvPr id="25" name="Shape 20"/>
          <p:cNvSpPr/>
          <p:nvPr>
            <p:custDataLst>
              <p:tags r:id="rId23"/>
            </p:custDataLst>
          </p:nvPr>
        </p:nvSpPr>
        <p:spPr>
          <a:xfrm>
            <a:off x="6419088" y="4242816"/>
            <a:ext cx="420624" cy="420624"/>
          </a:xfrm>
          <a:prstGeom prst="roundRect">
            <a:avLst>
              <a:gd name="adj" fmla="val 28000"/>
            </a:avLst>
          </a:prstGeom>
          <a:solidFill>
            <a:srgbClr val="0E7C86"/>
          </a:solidFill>
        </p:spPr>
      </p:sp>
      <p:pic>
        <p:nvPicPr>
          <p:cNvPr id="26" name="Image 3" descr="icons/clipboard.png"/>
          <p:cNvPicPr>
            <a:picLocks noChangeAspect="1"/>
          </p:cNvPicPr>
          <p:nvPr>
            <p:custDataLst>
              <p:tags r:id="rId24"/>
            </p:custDataLst>
          </p:nvPr>
        </p:nvPicPr>
        <p:blipFill>
          <a:blip r:embed="rId25"/>
          <a:stretch>
            <a:fillRect/>
          </a:stretch>
        </p:blipFill>
        <p:spPr>
          <a:xfrm>
            <a:off x="6510528" y="4334256"/>
            <a:ext cx="237744" cy="237744"/>
          </a:xfrm>
          <a:prstGeom prst="rect">
            <a:avLst/>
          </a:prstGeom>
        </p:spPr>
      </p:pic>
      <p:sp>
        <p:nvSpPr>
          <p:cNvPr id="27" name="Text 21"/>
          <p:cNvSpPr/>
          <p:nvPr>
            <p:custDataLst>
              <p:tags r:id="rId26"/>
            </p:custDataLst>
          </p:nvPr>
        </p:nvSpPr>
        <p:spPr>
          <a:xfrm>
            <a:off x="6967728" y="4224528"/>
            <a:ext cx="434340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FD6B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Score vs. probability language</a:t>
            </a:r>
            <a:endParaRPr lang="en-US" sz="1250" dirty="0"/>
          </a:p>
        </p:txBody>
      </p:sp>
      <p:sp>
        <p:nvSpPr>
          <p:cNvPr id="28" name="Text 22"/>
          <p:cNvSpPr/>
          <p:nvPr>
            <p:custDataLst>
              <p:tags r:id="rId27"/>
            </p:custDataLst>
          </p:nvPr>
        </p:nvSpPr>
        <p:spPr>
          <a:xfrm>
            <a:off x="6967728" y="4517136"/>
            <a:ext cx="43434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FC3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Trade-off: precision vs. honesty</a:t>
            </a:r>
            <a:endParaRPr lang="en-US" sz="900" dirty="0"/>
          </a:p>
        </p:txBody>
      </p:sp>
      <p:sp>
        <p:nvSpPr>
          <p:cNvPr id="29" name="Text 23"/>
          <p:cNvSpPr/>
          <p:nvPr>
            <p:custDataLst>
              <p:tags r:id="rId28"/>
            </p:custDataLst>
          </p:nvPr>
        </p:nvSpPr>
        <p:spPr>
          <a:xfrm>
            <a:off x="6419088" y="4864608"/>
            <a:ext cx="4855464" cy="12527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The model outputs a regression score, not a calibrated probability. Labelling it “Predicted Risk Score / 100” instead of “Churn Probability %” keeps the UI honest about what the model actually does.</a:t>
            </a:r>
            <a:endParaRPr lang="en-US" sz="1000" dirty="0"/>
          </a:p>
        </p:txBody>
      </p:sp>
      <p:sp>
        <p:nvSpPr>
          <p:cNvPr id="30" name="Text 24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170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Intelligent Customer Signal Detector</a:t>
            </a:r>
            <a:endParaRPr lang="en-US" sz="1000" dirty="0"/>
          </a:p>
        </p:txBody>
      </p:sp>
      <p:sp>
        <p:nvSpPr>
          <p:cNvPr id="31" name="Text 25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170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 / 5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7C8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SLIDE 5 OF 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91440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E2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Demo Summary &amp; Next Steps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0515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170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the prototype delivers today, and where it could go with more time.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5394960" cy="4434840"/>
          </a:xfrm>
          <a:prstGeom prst="roundRect">
            <a:avLst>
              <a:gd name="adj" fmla="val 2474"/>
            </a:avLst>
          </a:prstGeom>
          <a:solidFill>
            <a:srgbClr val="FFFFFF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627632"/>
            <a:ext cx="4754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1E2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What the Prototype Delivers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868680" y="2057400"/>
            <a:ext cx="274320" cy="274320"/>
          </a:xfrm>
          <a:prstGeom prst="roundRect">
            <a:avLst>
              <a:gd name="adj" fmla="val 28000"/>
            </a:avLst>
          </a:prstGeom>
          <a:solidFill>
            <a:srgbClr val="0E7C86"/>
          </a:solidFill>
        </p:spPr>
      </p:sp>
      <p:pic>
        <p:nvPicPr>
          <p:cNvPr id="8" name="Image 0" descr="icons/check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" y="2112264"/>
            <a:ext cx="164592" cy="16459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61872" y="2011680"/>
            <a:ext cx="45262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0B1E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End-to-end flow: upload data → process → prioritised risk dashboard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868680" y="2642616"/>
            <a:ext cx="274320" cy="274320"/>
          </a:xfrm>
          <a:prstGeom prst="roundRect">
            <a:avLst>
              <a:gd name="adj" fmla="val 28000"/>
            </a:avLst>
          </a:prstGeom>
          <a:solidFill>
            <a:srgbClr val="0E7C86"/>
          </a:solidFill>
        </p:spPr>
      </p:sp>
      <p:pic>
        <p:nvPicPr>
          <p:cNvPr id="11" name="Image 1" descr="icons/check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" y="2697480"/>
            <a:ext cx="164592" cy="16459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61872" y="2596896"/>
            <a:ext cx="45262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0B1E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Regression-based churn score (0–100) with fixed, documented risk bands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868680" y="3227832"/>
            <a:ext cx="274320" cy="274320"/>
          </a:xfrm>
          <a:prstGeom prst="roundRect">
            <a:avLst>
              <a:gd name="adj" fmla="val 28000"/>
            </a:avLst>
          </a:prstGeom>
          <a:solidFill>
            <a:srgbClr val="0E7C86"/>
          </a:solidFill>
        </p:spPr>
      </p:sp>
      <p:pic>
        <p:nvPicPr>
          <p:cNvPr id="14" name="Image 2" descr="icons/check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" y="3282696"/>
            <a:ext cx="164592" cy="16459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61872" y="3182112"/>
            <a:ext cx="45262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0B1E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Evidence-grounded “Why Flagged” rationale per customer, via LangChain + Groq, with template fallback if the API is offline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868680" y="3813048"/>
            <a:ext cx="274320" cy="274320"/>
          </a:xfrm>
          <a:prstGeom prst="roundRect">
            <a:avLst>
              <a:gd name="adj" fmla="val 28000"/>
            </a:avLst>
          </a:prstGeom>
          <a:solidFill>
            <a:srgbClr val="0E7C86"/>
          </a:solidFill>
        </p:spPr>
      </p:sp>
      <p:pic>
        <p:nvPicPr>
          <p:cNvPr id="17" name="Image 3" descr="icons/check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" y="3867912"/>
            <a:ext cx="164592" cy="16459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61872" y="3767328"/>
            <a:ext cx="45262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0B1E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Full customer detail view: core metrics, raw properties, system flags, support transcript, sentiment</a:t>
            </a:r>
            <a:endParaRPr lang="en-US" sz="1050" dirty="0"/>
          </a:p>
        </p:txBody>
      </p:sp>
      <p:sp>
        <p:nvSpPr>
          <p:cNvPr id="19" name="Shape 13"/>
          <p:cNvSpPr/>
          <p:nvPr/>
        </p:nvSpPr>
        <p:spPr>
          <a:xfrm>
            <a:off x="868680" y="4398264"/>
            <a:ext cx="274320" cy="274320"/>
          </a:xfrm>
          <a:prstGeom prst="roundRect">
            <a:avLst>
              <a:gd name="adj" fmla="val 28000"/>
            </a:avLst>
          </a:prstGeom>
          <a:solidFill>
            <a:srgbClr val="0E7C86"/>
          </a:solidFill>
        </p:spPr>
      </p:sp>
      <p:pic>
        <p:nvPicPr>
          <p:cNvPr id="20" name="Image 4" descr="icons/check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" y="4453128"/>
            <a:ext cx="164592" cy="164592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261872" y="4352544"/>
            <a:ext cx="45262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0B1E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 Insights screen with real feature importances for auditability</a:t>
            </a:r>
            <a:endParaRPr lang="en-US" sz="1050" dirty="0"/>
          </a:p>
        </p:txBody>
      </p:sp>
      <p:sp>
        <p:nvSpPr>
          <p:cNvPr id="22" name="Shape 15"/>
          <p:cNvSpPr/>
          <p:nvPr/>
        </p:nvSpPr>
        <p:spPr>
          <a:xfrm>
            <a:off x="868680" y="4983480"/>
            <a:ext cx="274320" cy="274320"/>
          </a:xfrm>
          <a:prstGeom prst="roundRect">
            <a:avLst>
              <a:gd name="adj" fmla="val 28000"/>
            </a:avLst>
          </a:prstGeom>
          <a:solidFill>
            <a:srgbClr val="0E7C86"/>
          </a:solidFill>
        </p:spPr>
      </p:sp>
      <p:pic>
        <p:nvPicPr>
          <p:cNvPr id="23" name="Image 5" descr="icons/check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" y="5038344"/>
            <a:ext cx="164592" cy="164592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1261872" y="4937760"/>
            <a:ext cx="45262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0B1E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/ Upload screen with bulk CSV+TXT ingest, auto-process, manual sandbox entry, and a Danger Zone for resets</a:t>
            </a:r>
            <a:endParaRPr lang="en-US" sz="1050" dirty="0"/>
          </a:p>
        </p:txBody>
      </p:sp>
      <p:sp>
        <p:nvSpPr>
          <p:cNvPr id="25" name="Shape 17"/>
          <p:cNvSpPr/>
          <p:nvPr/>
        </p:nvSpPr>
        <p:spPr>
          <a:xfrm>
            <a:off x="868680" y="5623560"/>
            <a:ext cx="4754880" cy="502920"/>
          </a:xfrm>
          <a:prstGeom prst="roundRect">
            <a:avLst>
              <a:gd name="adj" fmla="val 14545"/>
            </a:avLst>
          </a:prstGeom>
          <a:solidFill>
            <a:srgbClr val="0B1E27"/>
          </a:solidFill>
        </p:spPr>
      </p:sp>
      <p:sp>
        <p:nvSpPr>
          <p:cNvPr id="26" name="Text 18"/>
          <p:cNvSpPr/>
          <p:nvPr/>
        </p:nvSpPr>
        <p:spPr>
          <a:xfrm>
            <a:off x="1051560" y="5623560"/>
            <a:ext cx="44805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FD6B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Demo link / repository:  [ add before submission ]</a:t>
            </a:r>
            <a:endParaRPr lang="en-US" sz="1050" dirty="0"/>
          </a:p>
        </p:txBody>
      </p:sp>
      <p:sp>
        <p:nvSpPr>
          <p:cNvPr id="27" name="Shape 19"/>
          <p:cNvSpPr/>
          <p:nvPr/>
        </p:nvSpPr>
        <p:spPr>
          <a:xfrm>
            <a:off x="6217920" y="1417320"/>
            <a:ext cx="5440680" cy="4434840"/>
          </a:xfrm>
          <a:prstGeom prst="roundRect">
            <a:avLst>
              <a:gd name="adj" fmla="val 2474"/>
            </a:avLst>
          </a:prstGeom>
          <a:solidFill>
            <a:srgbClr val="0F3140"/>
          </a:solidFill>
        </p:spPr>
      </p:sp>
      <p:sp>
        <p:nvSpPr>
          <p:cNvPr id="28" name="Text 20"/>
          <p:cNvSpPr/>
          <p:nvPr/>
        </p:nvSpPr>
        <p:spPr>
          <a:xfrm>
            <a:off x="6537960" y="1627632"/>
            <a:ext cx="4754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Potential Next Steps</a:t>
            </a:r>
            <a:endParaRPr lang="en-US" sz="1450" dirty="0"/>
          </a:p>
        </p:txBody>
      </p:sp>
      <p:sp>
        <p:nvSpPr>
          <p:cNvPr id="29" name="Shape 21"/>
          <p:cNvSpPr/>
          <p:nvPr/>
        </p:nvSpPr>
        <p:spPr>
          <a:xfrm>
            <a:off x="6537960" y="205740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0E7C86"/>
          </a:solidFill>
        </p:spPr>
      </p:sp>
      <p:pic>
        <p:nvPicPr>
          <p:cNvPr id="30" name="Image 6" descr="icons/bul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0256" y="2139696"/>
            <a:ext cx="219456" cy="219456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7040880" y="2039112"/>
            <a:ext cx="44805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Multi-signal correlation</a:t>
            </a:r>
            <a:endParaRPr lang="en-US" sz="1150" dirty="0"/>
          </a:p>
        </p:txBody>
      </p:sp>
      <p:sp>
        <p:nvSpPr>
          <p:cNvPr id="32" name="Text 23"/>
          <p:cNvSpPr/>
          <p:nvPr/>
        </p:nvSpPr>
        <p:spPr>
          <a:xfrm>
            <a:off x="7040880" y="2322576"/>
            <a:ext cx="448056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30" dirty="0">
                <a:solidFill>
                  <a:srgbClr val="9FC3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Combine sentiment with billing history for a compound risk view (an optional enhancement in the brief).</a:t>
            </a:r>
            <a:endParaRPr lang="en-US" sz="930" dirty="0"/>
          </a:p>
        </p:txBody>
      </p:sp>
      <p:sp>
        <p:nvSpPr>
          <p:cNvPr id="33" name="Shape 24"/>
          <p:cNvSpPr/>
          <p:nvPr/>
        </p:nvSpPr>
        <p:spPr>
          <a:xfrm>
            <a:off x="6537960" y="2770632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0E7C86"/>
          </a:solidFill>
        </p:spPr>
      </p:sp>
      <p:pic>
        <p:nvPicPr>
          <p:cNvPr id="34" name="Image 7" descr="icons/bar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0256" y="2852928"/>
            <a:ext cx="219456" cy="219456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7040880" y="2752344"/>
            <a:ext cx="44805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Visual risk heatmap</a:t>
            </a:r>
            <a:endParaRPr lang="en-US" sz="1150" dirty="0"/>
          </a:p>
        </p:txBody>
      </p:sp>
      <p:sp>
        <p:nvSpPr>
          <p:cNvPr id="36" name="Text 26"/>
          <p:cNvSpPr/>
          <p:nvPr/>
        </p:nvSpPr>
        <p:spPr>
          <a:xfrm>
            <a:off x="7040880" y="3035808"/>
            <a:ext cx="448056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30" dirty="0">
                <a:solidFill>
                  <a:srgbClr val="9FC3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Geographic or segment-level view of concentrated churn risk.</a:t>
            </a:r>
            <a:endParaRPr lang="en-US" sz="930" dirty="0"/>
          </a:p>
        </p:txBody>
      </p:sp>
      <p:sp>
        <p:nvSpPr>
          <p:cNvPr id="37" name="Shape 27"/>
          <p:cNvSpPr/>
          <p:nvPr/>
        </p:nvSpPr>
        <p:spPr>
          <a:xfrm>
            <a:off x="6537960" y="3483864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0E7C86"/>
          </a:solidFill>
        </p:spPr>
      </p:sp>
      <p:pic>
        <p:nvPicPr>
          <p:cNvPr id="38" name="Image 8" descr="icons/rou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0256" y="3566160"/>
            <a:ext cx="219456" cy="219456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7040880" y="3465576"/>
            <a:ext cx="44805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Suggested retention actions</a:t>
            </a:r>
            <a:endParaRPr lang="en-US" sz="1150" dirty="0"/>
          </a:p>
        </p:txBody>
      </p:sp>
      <p:sp>
        <p:nvSpPr>
          <p:cNvPr id="40" name="Text 29"/>
          <p:cNvSpPr/>
          <p:nvPr/>
        </p:nvSpPr>
        <p:spPr>
          <a:xfrm>
            <a:off x="7040880" y="3749040"/>
            <a:ext cx="448056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30" dirty="0">
                <a:solidFill>
                  <a:srgbClr val="9FC3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One recommended next step per flagged customer, ops-reviewable before it's sent.</a:t>
            </a:r>
            <a:endParaRPr lang="en-US" sz="930" dirty="0"/>
          </a:p>
        </p:txBody>
      </p:sp>
      <p:sp>
        <p:nvSpPr>
          <p:cNvPr id="41" name="Shape 30"/>
          <p:cNvSpPr/>
          <p:nvPr/>
        </p:nvSpPr>
        <p:spPr>
          <a:xfrm>
            <a:off x="6537960" y="4197096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0E7C86"/>
          </a:solidFill>
        </p:spPr>
      </p:sp>
      <p:pic>
        <p:nvPicPr>
          <p:cNvPr id="42" name="Image 9" descr="icons/bol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0256" y="4279392"/>
            <a:ext cx="219456" cy="219456"/>
          </a:xfrm>
          <a:prstGeom prst="rect">
            <a:avLst/>
          </a:prstGeom>
        </p:spPr>
      </p:pic>
      <p:sp>
        <p:nvSpPr>
          <p:cNvPr id="43" name="Text 31"/>
          <p:cNvSpPr/>
          <p:nvPr/>
        </p:nvSpPr>
        <p:spPr>
          <a:xfrm>
            <a:off x="7040880" y="4178808"/>
            <a:ext cx="44805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Continuous monitoring</a:t>
            </a:r>
            <a:endParaRPr lang="en-US" sz="1150" dirty="0"/>
          </a:p>
        </p:txBody>
      </p:sp>
      <p:sp>
        <p:nvSpPr>
          <p:cNvPr id="44" name="Text 32"/>
          <p:cNvSpPr/>
          <p:nvPr/>
        </p:nvSpPr>
        <p:spPr>
          <a:xfrm>
            <a:off x="7040880" y="4462272"/>
            <a:ext cx="448056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30" dirty="0">
                <a:solidFill>
                  <a:srgbClr val="9FC3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Move from static batch upload to a live, streaming signal feed.</a:t>
            </a:r>
            <a:endParaRPr lang="en-US" sz="930" dirty="0"/>
          </a:p>
        </p:txBody>
      </p:sp>
      <p:sp>
        <p:nvSpPr>
          <p:cNvPr id="45" name="Shape 33"/>
          <p:cNvSpPr/>
          <p:nvPr/>
        </p:nvSpPr>
        <p:spPr>
          <a:xfrm>
            <a:off x="6537960" y="4910328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0E7C86"/>
          </a:solidFill>
        </p:spPr>
      </p:sp>
      <p:pic>
        <p:nvPicPr>
          <p:cNvPr id="46" name="Image 10" descr="icons/commental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0256" y="4992624"/>
            <a:ext cx="219456" cy="219456"/>
          </a:xfrm>
          <a:prstGeom prst="rect">
            <a:avLst/>
          </a:prstGeom>
        </p:spPr>
      </p:pic>
      <p:sp>
        <p:nvSpPr>
          <p:cNvPr id="47" name="Text 34"/>
          <p:cNvSpPr/>
          <p:nvPr/>
        </p:nvSpPr>
        <p:spPr>
          <a:xfrm>
            <a:off x="7040880" y="4892040"/>
            <a:ext cx="44805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AskAssistant / Connect Team</a:t>
            </a:r>
            <a:endParaRPr lang="en-US" sz="1150" dirty="0"/>
          </a:p>
        </p:txBody>
      </p:sp>
      <p:sp>
        <p:nvSpPr>
          <p:cNvPr id="48" name="Text 35"/>
          <p:cNvSpPr/>
          <p:nvPr/>
        </p:nvSpPr>
        <p:spPr>
          <a:xfrm>
            <a:off x="7040880" y="5175504"/>
            <a:ext cx="448056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30" dirty="0">
                <a:solidFill>
                  <a:srgbClr val="9FC3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Activate the sidebar's “coming soon” channels for live analyst chat and team hand-off.</a:t>
            </a:r>
            <a:endParaRPr lang="en-US" sz="930" dirty="0"/>
          </a:p>
        </p:txBody>
      </p:sp>
      <p:sp>
        <p:nvSpPr>
          <p:cNvPr id="49" name="Text 36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170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Intelligent Customer Signal Detector</a:t>
            </a:r>
            <a:endParaRPr lang="en-US" sz="1000" dirty="0"/>
          </a:p>
        </p:txBody>
      </p:sp>
      <p:sp>
        <p:nvSpPr>
          <p:cNvPr id="50" name="Text 37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170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 / 5</a:t>
            </a:r>
            <a:endParaRPr lang="en-US" sz="100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34.35999999999999,&quot;left&quot;:43.2,&quot;top&quot;:144,&quot;width&quot;:781.2}"/>
</p:tagLst>
</file>

<file path=ppt/tags/tag2.xml><?xml version="1.0" encoding="utf-8"?>
<p:tagLst xmlns:p="http://schemas.openxmlformats.org/presentationml/2006/main">
  <p:tag name="KSO_WM_DIAGRAM_VIRTUALLY_FRAME" val="{&quot;height&quot;:234.35999999999999,&quot;left&quot;:43.2,&quot;top&quot;:144,&quot;width&quot;:781.2}"/>
</p:tagLst>
</file>

<file path=ppt/tags/tag3.xml><?xml version="1.0" encoding="utf-8"?>
<p:tagLst xmlns:p="http://schemas.openxmlformats.org/presentationml/2006/main">
  <p:tag name="KSO_WM_DIAGRAM_VIRTUALLY_FRAME" val="{&quot;height&quot;:329.76000000000005,&quot;left&quot;:43.2,&quot;top&quot;:133.2,&quot;width&quot;:828.72}"/>
</p:tagLst>
</file>

<file path=ppt/tags/tag4.xml><?xml version="1.0" encoding="utf-8"?>
<p:tagLst xmlns:p="http://schemas.openxmlformats.org/presentationml/2006/main">
  <p:tag name="KSO_WM_DIAGRAM_VIRTUALLY_FRAME" val="{&quot;height&quot;:329.76000000000005,&quot;left&quot;:43.2,&quot;top&quot;:133.2,&quot;width&quot;:828.72}"/>
</p:tagLst>
</file>

<file path=ppt/tags/tag5.xml><?xml version="1.0" encoding="utf-8"?>
<p:tagLst xmlns:p="http://schemas.openxmlformats.org/presentationml/2006/main">
  <p:tag name="KSO_WM_DIAGRAM_VIRTUALLY_FRAME" val="{&quot;height&quot;:329.76000000000005,&quot;left&quot;:43.2,&quot;top&quot;:133.2,&quot;width&quot;:828.72}"/>
</p:tagLst>
</file>

<file path=ppt/tags/tag6.xml><?xml version="1.0" encoding="utf-8"?>
<p:tagLst xmlns:p="http://schemas.openxmlformats.org/presentationml/2006/main">
  <p:tag name="KSO_WM_DIAGRAM_VIRTUALLY_FRAME" val="{&quot;height&quot;:329.76000000000005,&quot;left&quot;:43.2,&quot;top&quot;:133.2,&quot;width&quot;:828.72}"/>
</p:tagLst>
</file>

<file path=ppt/tags/tag7.xml><?xml version="1.0" encoding="utf-8"?>
<p:tagLst xmlns:p="http://schemas.openxmlformats.org/presentationml/2006/main">
  <p:tag name="KSO_WM_DIAGRAM_VIRTUALLY_FRAME" val="{&quot;height&quot;:329.76000000000005,&quot;left&quot;:43.2,&quot;top&quot;:133.2,&quot;width&quot;:828.72}"/>
</p:tagLst>
</file>

<file path=ppt/tags/tag8.xml><?xml version="1.0" encoding="utf-8"?>
<p:tagLst xmlns:p="http://schemas.openxmlformats.org/presentationml/2006/main">
  <p:tag name="KSO_WM_DIAGRAM_VIRTUALLY_FRAME" val="{&quot;height&quot;:329.76000000000005,&quot;left&quot;:43.2,&quot;top&quot;:133.2,&quot;width&quot;:828.72}"/>
</p:tagLst>
</file>

<file path=ppt/tags/tag9.xml><?xml version="1.0" encoding="utf-8"?>
<p:tagLst xmlns:p="http://schemas.openxmlformats.org/presentationml/2006/main">
  <p:tag name="KSO_WM_DIAGRAM_VIRTUALLY_FRAME" val="{&quot;height&quot;:329.76000000000005,&quot;left&quot;:43.2,&quot;top&quot;:133.2,&quot;width&quot;:828.72}"/>
</p:tagLst>
</file>

<file path=ppt/tags/tag10.xml><?xml version="1.0" encoding="utf-8"?>
<p:tagLst xmlns:p="http://schemas.openxmlformats.org/presentationml/2006/main">
  <p:tag name="KSO_WM_DIAGRAM_VIRTUALLY_FRAME" val="{&quot;height&quot;:329.76000000000005,&quot;left&quot;:43.2,&quot;top&quot;:133.2,&quot;width&quot;:828.72}"/>
</p:tagLst>
</file>

<file path=ppt/tags/tag11.xml><?xml version="1.0" encoding="utf-8"?>
<p:tagLst xmlns:p="http://schemas.openxmlformats.org/presentationml/2006/main">
  <p:tag name="KSO_WM_DIAGRAM_VIRTUALLY_FRAME" val="{&quot;height&quot;:329.76000000000005,&quot;left&quot;:43.2,&quot;top&quot;:133.2,&quot;width&quot;:828.72}"/>
</p:tagLst>
</file>

<file path=ppt/tags/tag12.xml><?xml version="1.0" encoding="utf-8"?>
<p:tagLst xmlns:p="http://schemas.openxmlformats.org/presentationml/2006/main">
  <p:tag name="KSO_WM_DIAGRAM_VIRTUALLY_FRAME" val="{&quot;height&quot;:329.76000000000005,&quot;left&quot;:43.2,&quot;top&quot;:133.2,&quot;width&quot;:828.72}"/>
</p:tagLst>
</file>

<file path=ppt/tags/tag13.xml><?xml version="1.0" encoding="utf-8"?>
<p:tagLst xmlns:p="http://schemas.openxmlformats.org/presentationml/2006/main">
  <p:tag name="KSO_WM_DIAGRAM_VIRTUALLY_FRAME" val="{&quot;height&quot;:329.76000000000005,&quot;left&quot;:43.2,&quot;top&quot;:133.2,&quot;width&quot;:828.72}"/>
</p:tagLst>
</file>

<file path=ppt/tags/tag14.xml><?xml version="1.0" encoding="utf-8"?>
<p:tagLst xmlns:p="http://schemas.openxmlformats.org/presentationml/2006/main">
  <p:tag name="KSO_WM_DIAGRAM_VIRTUALLY_FRAME" val="{&quot;height&quot;:329.76000000000005,&quot;left&quot;:43.2,&quot;top&quot;:133.2,&quot;width&quot;:828.72}"/>
</p:tagLst>
</file>

<file path=ppt/tags/tag15.xml><?xml version="1.0" encoding="utf-8"?>
<p:tagLst xmlns:p="http://schemas.openxmlformats.org/presentationml/2006/main">
  <p:tag name="KSO_WM_DIAGRAM_VIRTUALLY_FRAME" val="{&quot;height&quot;:329.76000000000005,&quot;left&quot;:43.2,&quot;top&quot;:133.2,&quot;width&quot;:828.72}"/>
</p:tagLst>
</file>

<file path=ppt/tags/tag16.xml><?xml version="1.0" encoding="utf-8"?>
<p:tagLst xmlns:p="http://schemas.openxmlformats.org/presentationml/2006/main">
  <p:tag name="KSO_WM_DIAGRAM_VIRTUALLY_FRAME" val="{&quot;height&quot;:329.76000000000005,&quot;left&quot;:43.2,&quot;top&quot;:133.2,&quot;width&quot;:828.72}"/>
</p:tagLst>
</file>

<file path=ppt/tags/tag17.xml><?xml version="1.0" encoding="utf-8"?>
<p:tagLst xmlns:p="http://schemas.openxmlformats.org/presentationml/2006/main">
  <p:tag name="KSO_WM_DIAGRAM_VIRTUALLY_FRAME" val="{&quot;height&quot;:329.76000000000005,&quot;left&quot;:43.2,&quot;top&quot;:133.2,&quot;width&quot;:828.72}"/>
</p:tagLst>
</file>

<file path=ppt/tags/tag18.xml><?xml version="1.0" encoding="utf-8"?>
<p:tagLst xmlns:p="http://schemas.openxmlformats.org/presentationml/2006/main">
  <p:tag name="KSO_WM_DIAGRAM_VIRTUALLY_FRAME" val="{&quot;height&quot;:329.76000000000005,&quot;left&quot;:43.2,&quot;top&quot;:133.2,&quot;width&quot;:828.72}"/>
</p:tagLst>
</file>

<file path=ppt/tags/tag19.xml><?xml version="1.0" encoding="utf-8"?>
<p:tagLst xmlns:p="http://schemas.openxmlformats.org/presentationml/2006/main">
  <p:tag name="KSO_WM_DIAGRAM_VIRTUALLY_FRAME" val="{&quot;height&quot;:329.76000000000005,&quot;left&quot;:43.2,&quot;top&quot;:133.2,&quot;width&quot;:828.72}"/>
</p:tagLst>
</file>

<file path=ppt/tags/tag20.xml><?xml version="1.0" encoding="utf-8"?>
<p:tagLst xmlns:p="http://schemas.openxmlformats.org/presentationml/2006/main">
  <p:tag name="KSO_WM_DIAGRAM_VIRTUALLY_FRAME" val="{&quot;height&quot;:329.76000000000005,&quot;left&quot;:43.2,&quot;top&quot;:133.2,&quot;width&quot;:828.72}"/>
</p:tagLst>
</file>

<file path=ppt/tags/tag21.xml><?xml version="1.0" encoding="utf-8"?>
<p:tagLst xmlns:p="http://schemas.openxmlformats.org/presentationml/2006/main">
  <p:tag name="KSO_WM_DIAGRAM_VIRTUALLY_FRAME" val="{&quot;height&quot;:329.76000000000005,&quot;left&quot;:43.2,&quot;top&quot;:133.2,&quot;width&quot;:828.72}"/>
</p:tagLst>
</file>

<file path=ppt/tags/tag22.xml><?xml version="1.0" encoding="utf-8"?>
<p:tagLst xmlns:p="http://schemas.openxmlformats.org/presentationml/2006/main">
  <p:tag name="KSO_WM_DIAGRAM_VIRTUALLY_FRAME" val="{&quot;height&quot;:329.76000000000005,&quot;left&quot;:43.2,&quot;top&quot;:133.2,&quot;width&quot;:828.72}"/>
</p:tagLst>
</file>

<file path=ppt/tags/tag23.xml><?xml version="1.0" encoding="utf-8"?>
<p:tagLst xmlns:p="http://schemas.openxmlformats.org/presentationml/2006/main">
  <p:tag name="KSO_WM_DIAGRAM_VIRTUALLY_FRAME" val="{&quot;height&quot;:329.76000000000005,&quot;left&quot;:43.2,&quot;top&quot;:133.2,&quot;width&quot;:828.72}"/>
</p:tagLst>
</file>

<file path=ppt/tags/tag24.xml><?xml version="1.0" encoding="utf-8"?>
<p:tagLst xmlns:p="http://schemas.openxmlformats.org/presentationml/2006/main">
  <p:tag name="KSO_WM_DIAGRAM_VIRTUALLY_FRAME" val="{&quot;height&quot;:329.76000000000005,&quot;left&quot;:43.2,&quot;top&quot;:133.2,&quot;width&quot;:828.72}"/>
</p:tagLst>
</file>

<file path=ppt/tags/tag25.xml><?xml version="1.0" encoding="utf-8"?>
<p:tagLst xmlns:p="http://schemas.openxmlformats.org/presentationml/2006/main">
  <p:tag name="KSO_WM_DIAGRAM_VIRTUALLY_FRAME" val="{&quot;height&quot;:329.76000000000005,&quot;left&quot;:43.2,&quot;top&quot;:133.2,&quot;width&quot;:828.72}"/>
</p:tagLst>
</file>

<file path=ppt/tags/tag26.xml><?xml version="1.0" encoding="utf-8"?>
<p:tagLst xmlns:p="http://schemas.openxmlformats.org/presentationml/2006/main">
  <p:tag name="KSO_WM_DIAGRAM_VIRTUALLY_FRAME" val="{&quot;height&quot;:329.76000000000005,&quot;left&quot;:43.2,&quot;top&quot;:133.2,&quot;width&quot;:828.72}"/>
</p:tagLst>
</file>

<file path=ppt/tags/tag27.xml><?xml version="1.0" encoding="utf-8"?>
<p:tagLst xmlns:p="http://schemas.openxmlformats.org/presentationml/2006/main">
  <p:tag name="KSO_WM_DIAGRAM_VIRTUALLY_FRAME" val="{&quot;height&quot;:329.76000000000005,&quot;left&quot;:43.2,&quot;top&quot;:133.2,&quot;width&quot;:828.72}"/>
</p:tagLst>
</file>

<file path=ppt/tags/tag28.xml><?xml version="1.0" encoding="utf-8"?>
<p:tagLst xmlns:p="http://schemas.openxmlformats.org/presentationml/2006/main">
  <p:tag name="KSO_WM_DIAGRAM_VIRTUALLY_FRAME" val="{&quot;height&quot;:329.76000000000005,&quot;left&quot;:43.2,&quot;top&quot;:133.2,&quot;width&quot;:828.72}"/>
</p:tagLst>
</file>

<file path=ppt/tags/tag29.xml><?xml version="1.0" encoding="utf-8"?>
<p:tagLst xmlns:p="http://schemas.openxmlformats.org/presentationml/2006/main">
  <p:tag name="KSO_WM_DIAGRAM_VIRTUALLY_FRAME" val="{&quot;height&quot;:329.76000000000005,&quot;left&quot;:43.2,&quot;top&quot;:133.2,&quot;width&quot;:828.72}"/>
</p:tagLst>
</file>

<file path=ppt/tags/tag30.xml><?xml version="1.0" encoding="utf-8"?>
<p:tagLst xmlns:p="http://schemas.openxmlformats.org/presentationml/2006/main">
  <p:tag name="KSO_WM_DIAGRAM_VIRTUALLY_FRAME" val="{&quot;height&quot;:329.76000000000005,&quot;left&quot;:43.2,&quot;top&quot;:133.2,&quot;width&quot;:828.72}"/>
</p:tagLst>
</file>

<file path=ppt/tags/tag31.xml><?xml version="1.0" encoding="utf-8"?>
<p:tagLst xmlns:p="http://schemas.openxmlformats.org/presentationml/2006/main">
  <p:tag name="KSO_WM_DIAGRAM_VIRTUALLY_FRAME" val="{&quot;height&quot;:329.76000000000005,&quot;left&quot;:43.2,&quot;top&quot;:133.2,&quot;width&quot;:828.72}"/>
</p:tagLst>
</file>

<file path=ppt/tags/tag32.xml><?xml version="1.0" encoding="utf-8"?>
<p:tagLst xmlns:p="http://schemas.openxmlformats.org/presentationml/2006/main">
  <p:tag name="KSO_WM_DIAGRAM_VIRTUALLY_FRAME" val="{&quot;height&quot;:329.76000000000005,&quot;left&quot;:43.2,&quot;top&quot;:133.2,&quot;width&quot;:828.72}"/>
</p:tagLst>
</file>

<file path=ppt/tags/tag33.xml><?xml version="1.0" encoding="utf-8"?>
<p:tagLst xmlns:p="http://schemas.openxmlformats.org/presentationml/2006/main">
  <p:tag name="KSO_WM_DIAGRAM_VIRTUALLY_FRAME" val="{&quot;height&quot;:368.64,&quot;left&quot;:43.2,&quot;top&quot;:126,&quot;width&quot;:860.4}"/>
</p:tagLst>
</file>

<file path=ppt/tags/tag34.xml><?xml version="1.0" encoding="utf-8"?>
<p:tagLst xmlns:p="http://schemas.openxmlformats.org/presentationml/2006/main">
  <p:tag name="KSO_WM_DIAGRAM_VIRTUALLY_FRAME" val="{&quot;height&quot;:368.64,&quot;left&quot;:43.2,&quot;top&quot;:126,&quot;width&quot;:860.4}"/>
</p:tagLst>
</file>

<file path=ppt/tags/tag35.xml><?xml version="1.0" encoding="utf-8"?>
<p:tagLst xmlns:p="http://schemas.openxmlformats.org/presentationml/2006/main">
  <p:tag name="KSO_WM_DIAGRAM_VIRTUALLY_FRAME" val="{&quot;height&quot;:368.64,&quot;left&quot;:43.2,&quot;top&quot;:126,&quot;width&quot;:860.4}"/>
</p:tagLst>
</file>

<file path=ppt/tags/tag36.xml><?xml version="1.0" encoding="utf-8"?>
<p:tagLst xmlns:p="http://schemas.openxmlformats.org/presentationml/2006/main">
  <p:tag name="KSO_WM_DIAGRAM_VIRTUALLY_FRAME" val="{&quot;height&quot;:368.64,&quot;left&quot;:43.2,&quot;top&quot;:126,&quot;width&quot;:860.4}"/>
</p:tagLst>
</file>

<file path=ppt/tags/tag37.xml><?xml version="1.0" encoding="utf-8"?>
<p:tagLst xmlns:p="http://schemas.openxmlformats.org/presentationml/2006/main">
  <p:tag name="KSO_WM_DIAGRAM_VIRTUALLY_FRAME" val="{&quot;height&quot;:368.64,&quot;left&quot;:43.2,&quot;top&quot;:126,&quot;width&quot;:860.4}"/>
</p:tagLst>
</file>

<file path=ppt/tags/tag38.xml><?xml version="1.0" encoding="utf-8"?>
<p:tagLst xmlns:p="http://schemas.openxmlformats.org/presentationml/2006/main">
  <p:tag name="KSO_WM_DIAGRAM_VIRTUALLY_FRAME" val="{&quot;height&quot;:368.64,&quot;left&quot;:43.2,&quot;top&quot;:126,&quot;width&quot;:860.4}"/>
</p:tagLst>
</file>

<file path=ppt/tags/tag39.xml><?xml version="1.0" encoding="utf-8"?>
<p:tagLst xmlns:p="http://schemas.openxmlformats.org/presentationml/2006/main">
  <p:tag name="KSO_WM_DIAGRAM_VIRTUALLY_FRAME" val="{&quot;height&quot;:368.64,&quot;left&quot;:43.2,&quot;top&quot;:126,&quot;width&quot;:860.4}"/>
</p:tagLst>
</file>

<file path=ppt/tags/tag40.xml><?xml version="1.0" encoding="utf-8"?>
<p:tagLst xmlns:p="http://schemas.openxmlformats.org/presentationml/2006/main">
  <p:tag name="KSO_WM_DIAGRAM_VIRTUALLY_FRAME" val="{&quot;height&quot;:368.64,&quot;left&quot;:43.2,&quot;top&quot;:126,&quot;width&quot;:860.4}"/>
</p:tagLst>
</file>

<file path=ppt/tags/tag41.xml><?xml version="1.0" encoding="utf-8"?>
<p:tagLst xmlns:p="http://schemas.openxmlformats.org/presentationml/2006/main">
  <p:tag name="KSO_WM_DIAGRAM_VIRTUALLY_FRAME" val="{&quot;height&quot;:368.64,&quot;left&quot;:43.2,&quot;top&quot;:126,&quot;width&quot;:860.4}"/>
</p:tagLst>
</file>

<file path=ppt/tags/tag42.xml><?xml version="1.0" encoding="utf-8"?>
<p:tagLst xmlns:p="http://schemas.openxmlformats.org/presentationml/2006/main">
  <p:tag name="KSO_WM_DIAGRAM_VIRTUALLY_FRAME" val="{&quot;height&quot;:368.64,&quot;left&quot;:43.2,&quot;top&quot;:126,&quot;width&quot;:860.4}"/>
</p:tagLst>
</file>

<file path=ppt/tags/tag43.xml><?xml version="1.0" encoding="utf-8"?>
<p:tagLst xmlns:p="http://schemas.openxmlformats.org/presentationml/2006/main">
  <p:tag name="KSO_WM_DIAGRAM_VIRTUALLY_FRAME" val="{&quot;height&quot;:368.64,&quot;left&quot;:43.2,&quot;top&quot;:126,&quot;width&quot;:860.4}"/>
</p:tagLst>
</file>

<file path=ppt/tags/tag44.xml><?xml version="1.0" encoding="utf-8"?>
<p:tagLst xmlns:p="http://schemas.openxmlformats.org/presentationml/2006/main">
  <p:tag name="KSO_WM_DIAGRAM_VIRTUALLY_FRAME" val="{&quot;height&quot;:368.64,&quot;left&quot;:43.2,&quot;top&quot;:126,&quot;width&quot;:860.4}"/>
</p:tagLst>
</file>

<file path=ppt/tags/tag45.xml><?xml version="1.0" encoding="utf-8"?>
<p:tagLst xmlns:p="http://schemas.openxmlformats.org/presentationml/2006/main">
  <p:tag name="KSO_WM_DIAGRAM_VIRTUALLY_FRAME" val="{&quot;height&quot;:368.64,&quot;left&quot;:43.2,&quot;top&quot;:126,&quot;width&quot;:860.4}"/>
</p:tagLst>
</file>

<file path=ppt/tags/tag46.xml><?xml version="1.0" encoding="utf-8"?>
<p:tagLst xmlns:p="http://schemas.openxmlformats.org/presentationml/2006/main">
  <p:tag name="KSO_WM_DIAGRAM_VIRTUALLY_FRAME" val="{&quot;height&quot;:368.64,&quot;left&quot;:43.2,&quot;top&quot;:126,&quot;width&quot;:860.4}"/>
</p:tagLst>
</file>

<file path=ppt/tags/tag47.xml><?xml version="1.0" encoding="utf-8"?>
<p:tagLst xmlns:p="http://schemas.openxmlformats.org/presentationml/2006/main">
  <p:tag name="KSO_WM_DIAGRAM_VIRTUALLY_FRAME" val="{&quot;height&quot;:368.64,&quot;left&quot;:43.2,&quot;top&quot;:126,&quot;width&quot;:860.4}"/>
</p:tagLst>
</file>

<file path=ppt/tags/tag48.xml><?xml version="1.0" encoding="utf-8"?>
<p:tagLst xmlns:p="http://schemas.openxmlformats.org/presentationml/2006/main">
  <p:tag name="KSO_WM_DIAGRAM_VIRTUALLY_FRAME" val="{&quot;height&quot;:368.64,&quot;left&quot;:43.2,&quot;top&quot;:126,&quot;width&quot;:860.4}"/>
</p:tagLst>
</file>

<file path=ppt/tags/tag49.xml><?xml version="1.0" encoding="utf-8"?>
<p:tagLst xmlns:p="http://schemas.openxmlformats.org/presentationml/2006/main">
  <p:tag name="KSO_WM_DIAGRAM_VIRTUALLY_FRAME" val="{&quot;height&quot;:368.64,&quot;left&quot;:43.2,&quot;top&quot;:126,&quot;width&quot;:860.4}"/>
</p:tagLst>
</file>

<file path=ppt/tags/tag50.xml><?xml version="1.0" encoding="utf-8"?>
<p:tagLst xmlns:p="http://schemas.openxmlformats.org/presentationml/2006/main">
  <p:tag name="KSO_WM_DIAGRAM_VIRTUALLY_FRAME" val="{&quot;height&quot;:368.64,&quot;left&quot;:43.2,&quot;top&quot;:126,&quot;width&quot;:860.4}"/>
</p:tagLst>
</file>

<file path=ppt/tags/tag51.xml><?xml version="1.0" encoding="utf-8"?>
<p:tagLst xmlns:p="http://schemas.openxmlformats.org/presentationml/2006/main">
  <p:tag name="KSO_WM_DIAGRAM_VIRTUALLY_FRAME" val="{&quot;height&quot;:368.64,&quot;left&quot;:43.2,&quot;top&quot;:126,&quot;width&quot;:860.4}"/>
</p:tagLst>
</file>

<file path=ppt/tags/tag52.xml><?xml version="1.0" encoding="utf-8"?>
<p:tagLst xmlns:p="http://schemas.openxmlformats.org/presentationml/2006/main">
  <p:tag name="KSO_WM_DIAGRAM_VIRTUALLY_FRAME" val="{&quot;height&quot;:368.64,&quot;left&quot;:43.2,&quot;top&quot;:126,&quot;width&quot;:860.4}"/>
</p:tagLst>
</file>

<file path=ppt/tags/tag53.xml><?xml version="1.0" encoding="utf-8"?>
<p:tagLst xmlns:p="http://schemas.openxmlformats.org/presentationml/2006/main">
  <p:tag name="KSO_WM_DIAGRAM_VIRTUALLY_FRAME" val="{&quot;height&quot;:368.64,&quot;left&quot;:43.2,&quot;top&quot;:126,&quot;width&quot;:860.4}"/>
</p:tagLst>
</file>

<file path=ppt/tags/tag54.xml><?xml version="1.0" encoding="utf-8"?>
<p:tagLst xmlns:p="http://schemas.openxmlformats.org/presentationml/2006/main">
  <p:tag name="KSO_WM_DIAGRAM_VIRTUALLY_FRAME" val="{&quot;height&quot;:368.64,&quot;left&quot;:43.2,&quot;top&quot;:126,&quot;width&quot;:860.4}"/>
</p:tagLst>
</file>

<file path=ppt/tags/tag55.xml><?xml version="1.0" encoding="utf-8"?>
<p:tagLst xmlns:p="http://schemas.openxmlformats.org/presentationml/2006/main">
  <p:tag name="KSO_WM_DIAGRAM_VIRTUALLY_FRAME" val="{&quot;height&quot;:368.64,&quot;left&quot;:43.2,&quot;top&quot;:126,&quot;width&quot;:860.4}"/>
</p:tagLst>
</file>

<file path=ppt/tags/tag56.xml><?xml version="1.0" encoding="utf-8"?>
<p:tagLst xmlns:p="http://schemas.openxmlformats.org/presentationml/2006/main">
  <p:tag name="KSO_WM_DIAGRAM_VIRTUALLY_FRAME" val="{&quot;height&quot;:368.64,&quot;left&quot;:43.2,&quot;top&quot;:126,&quot;width&quot;:860.4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5766</Words>
  <Application>WPS Presentation</Application>
  <PresentationFormat>On-screen Show (16:9)</PresentationFormat>
  <Paragraphs>214</Paragraphs>
  <Slides>5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7" baseType="lpstr">
      <vt:lpstr>Arial</vt:lpstr>
      <vt:lpstr>SimSun</vt:lpstr>
      <vt:lpstr>Wingdings</vt:lpstr>
      <vt:lpstr>Calibri</vt:lpstr>
      <vt:lpstr>Calibri</vt:lpstr>
      <vt:lpstr>Calibri</vt:lpstr>
      <vt:lpstr>Cambria</vt:lpstr>
      <vt:lpstr>Cambria</vt:lpstr>
      <vt:lpstr>Cambria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chskc</cp:lastModifiedBy>
  <cp:revision>3</cp:revision>
  <dcterms:created xsi:type="dcterms:W3CDTF">2026-08-14T03:27:00Z</dcterms:created>
  <dcterms:modified xsi:type="dcterms:W3CDTF">2026-08-14T03:59:46Z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4DB920B929AE4392AE45917C23745BFD_12</vt:lpwstr>
  </property>
  <property fmtid="{D5CDD505-2E9C-101B-9397-08002B2CF9AE}" pid="3" name="KSOProductBuildVer">
    <vt:lpwstr>2057-12.2.0.23206</vt:lpwstr>
  </property>
</Properties>
</file>