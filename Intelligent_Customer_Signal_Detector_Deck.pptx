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6" Type="http://schemas.openxmlformats.org/officeDocument/2006/relationships/notesSlide" Target="../notesSlides/notesSlide2.xml"/><Relationship Id="rId45" Type="http://schemas.openxmlformats.org/officeDocument/2006/relationships/slideLayout" Target="../slideLayouts/slideLayout1.xml"/><Relationship Id="rId44" Type="http://schemas.openxmlformats.org/officeDocument/2006/relationships/image" Target="../media/image9.png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image" Target="../media/image8.png"/><Relationship Id="rId40" Type="http://schemas.openxmlformats.org/officeDocument/2006/relationships/tags" Target="../tags/tag35.xml"/><Relationship Id="rId4" Type="http://schemas.openxmlformats.org/officeDocument/2006/relationships/image" Target="../media/image3.png"/><Relationship Id="rId39" Type="http://schemas.openxmlformats.org/officeDocument/2006/relationships/tags" Target="../tags/tag34.xml"/><Relationship Id="rId38" Type="http://schemas.openxmlformats.org/officeDocument/2006/relationships/tags" Target="../tags/tag33.xml"/><Relationship Id="rId37" Type="http://schemas.openxmlformats.org/officeDocument/2006/relationships/tags" Target="../tags/tag32.xml"/><Relationship Id="rId36" Type="http://schemas.openxmlformats.org/officeDocument/2006/relationships/tags" Target="../tags/tag31.xml"/><Relationship Id="rId35" Type="http://schemas.openxmlformats.org/officeDocument/2006/relationships/tags" Target="../tags/tag30.xml"/><Relationship Id="rId34" Type="http://schemas.openxmlformats.org/officeDocument/2006/relationships/image" Target="../media/image7.png"/><Relationship Id="rId33" Type="http://schemas.openxmlformats.org/officeDocument/2006/relationships/tags" Target="../tags/tag29.xml"/><Relationship Id="rId32" Type="http://schemas.openxmlformats.org/officeDocument/2006/relationships/tags" Target="../tags/tag28.xml"/><Relationship Id="rId31" Type="http://schemas.openxmlformats.org/officeDocument/2006/relationships/tags" Target="../tags/tag27.xml"/><Relationship Id="rId30" Type="http://schemas.openxmlformats.org/officeDocument/2006/relationships/tags" Target="../tags/tag26.xml"/><Relationship Id="rId3" Type="http://schemas.openxmlformats.org/officeDocument/2006/relationships/tags" Target="../tags/tag3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image" Target="../media/image6.png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image" Target="../media/image5.png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image" Target="../media/image6.png"/><Relationship Id="rId38" Type="http://schemas.openxmlformats.org/officeDocument/2006/relationships/notesSlide" Target="../notesSlides/notesSlide3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67.xml"/><Relationship Id="rId35" Type="http://schemas.openxmlformats.org/officeDocument/2006/relationships/tags" Target="../tags/tag66.xml"/><Relationship Id="rId34" Type="http://schemas.openxmlformats.org/officeDocument/2006/relationships/image" Target="../media/image11.png"/><Relationship Id="rId33" Type="http://schemas.openxmlformats.org/officeDocument/2006/relationships/tags" Target="../tags/tag65.xml"/><Relationship Id="rId32" Type="http://schemas.openxmlformats.org/officeDocument/2006/relationships/tags" Target="../tags/tag64.xml"/><Relationship Id="rId31" Type="http://schemas.openxmlformats.org/officeDocument/2006/relationships/tags" Target="../tags/tag63.xml"/><Relationship Id="rId30" Type="http://schemas.openxmlformats.org/officeDocument/2006/relationships/tags" Target="../tags/tag62.xml"/><Relationship Id="rId3" Type="http://schemas.openxmlformats.org/officeDocument/2006/relationships/tags" Target="../tags/tag40.xml"/><Relationship Id="rId29" Type="http://schemas.openxmlformats.org/officeDocument/2006/relationships/tags" Target="../tags/tag61.xml"/><Relationship Id="rId28" Type="http://schemas.openxmlformats.org/officeDocument/2006/relationships/image" Target="../media/image4.png"/><Relationship Id="rId27" Type="http://schemas.openxmlformats.org/officeDocument/2006/relationships/tags" Target="../tags/tag60.xml"/><Relationship Id="rId26" Type="http://schemas.openxmlformats.org/officeDocument/2006/relationships/tags" Target="../tags/tag59.xml"/><Relationship Id="rId25" Type="http://schemas.openxmlformats.org/officeDocument/2006/relationships/tags" Target="../tags/tag58.xml"/><Relationship Id="rId24" Type="http://schemas.openxmlformats.org/officeDocument/2006/relationships/tags" Target="../tags/tag57.xml"/><Relationship Id="rId23" Type="http://schemas.openxmlformats.org/officeDocument/2006/relationships/tags" Target="../tags/tag56.xml"/><Relationship Id="rId22" Type="http://schemas.openxmlformats.org/officeDocument/2006/relationships/image" Target="../media/image10.png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tags" Target="../tags/tag39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image" Target="../media/image8.png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image" Target="../media/image7.png"/><Relationship Id="rId1" Type="http://schemas.openxmlformats.org/officeDocument/2006/relationships/tags" Target="../tags/tag3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image" Target="../media/image12.png"/><Relationship Id="rId3" Type="http://schemas.openxmlformats.org/officeDocument/2006/relationships/tags" Target="../tags/tag70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image" Target="../media/image13.png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9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image" Target="../media/image3.png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image" Target="../media/image11.png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E7C86">
              <a:alpha val="2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3FD6BE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 ·  SLIDE 1 OF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01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Intelligent Customer Signal Detector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Understanding &amp; Objective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D6B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120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51206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Signals exist — support chat logs, billing records, satisfaction scores — </a:t>
            </a: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Customer operations teams react </a:t>
            </a:r>
            <a:r>
              <a:rPr lang="en-US" sz="14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after</a:t>
            </a: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the fact — by the time a complaint escalates or a cancellation request lands, the chance to intervene has already passed.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they sit siloed across systems and are reviewed manually, one ticket at a time.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246888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112B3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7432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2" name="Image 0" descr="icons/bullsey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2944368"/>
            <a:ext cx="146304" cy="146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23760" y="2770632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92240" y="3429000"/>
            <a:ext cx="4754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and demonstrate an AI prototype that analyses customer interaction data — feedback, support transcripts, and usage patterns — to surface early-warning signals and behavioural trends before they escalate.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92240" y="457200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6" name="Image 1" descr="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4626864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85432" y="4535424"/>
            <a:ext cx="4343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Prioritised list of at-risk customers, with reasoning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92240" y="4974336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9" name="Image 2" descr="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502920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85432" y="4937760"/>
            <a:ext cx="4343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/ urgency score per customer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92240" y="5376672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2" name="Image 3" descr="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5431536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85432" y="5340096"/>
            <a:ext cx="4343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Brief AI rationale, clear for a retention team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8064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D6B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 days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640080" y="629107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window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520440" y="58064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D6B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57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3520440" y="629107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signal fields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0" y="58064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D6B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200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6400800" y="629107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in demo dataset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2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Solution Architecture &amp; Design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records and support transcripts flow through a deterministic ML + rule layer before an LLM explains the result.</a:t>
            </a:r>
            <a:endParaRPr lang="en-US" sz="12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182880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667512" y="194767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7" name="Image 0" descr="icons/db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0664" y="202082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115568" y="1920240"/>
            <a:ext cx="1636776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CSV</a:t>
            </a:r>
            <a:endParaRPr lang="en-US" sz="115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694944" y="2359152"/>
            <a:ext cx="2039112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records, 57 fields</a:t>
            </a:r>
            <a:endParaRPr lang="en-US" sz="850" dirty="0"/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548640" y="324612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667512" y="336499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2" name="Image 1" descr="icons/comment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40664" y="343814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1115568" y="3337560"/>
            <a:ext cx="1636776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Transcripts</a:t>
            </a:r>
            <a:endParaRPr lang="en-US" sz="115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694944" y="3776472"/>
            <a:ext cx="2039112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.txt call/chat logs</a:t>
            </a:r>
            <a:endParaRPr lang="en-US" sz="850" dirty="0"/>
          </a:p>
        </p:txBody>
      </p:sp>
      <p:sp>
        <p:nvSpPr>
          <p:cNvPr id="15" name="Shape 11"/>
          <p:cNvSpPr/>
          <p:nvPr>
            <p:custDataLst>
              <p:tags r:id="rId13"/>
            </p:custDataLst>
          </p:nvPr>
        </p:nvSpPr>
        <p:spPr>
          <a:xfrm>
            <a:off x="548640" y="1828800"/>
            <a:ext cx="2331720" cy="914400"/>
          </a:xfrm>
          <a:prstGeom prst="roundRect">
            <a:avLst>
              <a:gd name="adj" fmla="val 9000"/>
            </a:avLst>
          </a:prstGeom>
          <a:ln w="12700">
            <a:solidFill>
              <a:srgbClr val="DCE6E8"/>
            </a:solidFill>
            <a:prstDash val="solid"/>
          </a:ln>
        </p:spPr>
      </p:sp>
      <p:sp>
        <p:nvSpPr>
          <p:cNvPr id="16" name="Shape 12"/>
          <p:cNvSpPr/>
          <p:nvPr>
            <p:custDataLst>
              <p:tags r:id="rId14"/>
            </p:custDataLst>
          </p:nvPr>
        </p:nvSpPr>
        <p:spPr>
          <a:xfrm>
            <a:off x="548640" y="3246120"/>
            <a:ext cx="2331720" cy="914400"/>
          </a:xfrm>
          <a:prstGeom prst="roundRect">
            <a:avLst>
              <a:gd name="adj" fmla="val 9000"/>
            </a:avLst>
          </a:prstGeom>
          <a:ln w="12700">
            <a:solidFill>
              <a:srgbClr val="DCE6E8"/>
            </a:solidFill>
            <a:prstDash val="solid"/>
          </a:ln>
        </p:spPr>
      </p:sp>
      <p:sp>
        <p:nvSpPr>
          <p:cNvPr id="17" name="Shape 13"/>
          <p:cNvSpPr/>
          <p:nvPr>
            <p:custDataLst>
              <p:tags r:id="rId15"/>
            </p:custDataLst>
          </p:nvPr>
        </p:nvSpPr>
        <p:spPr>
          <a:xfrm>
            <a:off x="2916936" y="2286000"/>
            <a:ext cx="246888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8" name="Shape 14"/>
          <p:cNvSpPr/>
          <p:nvPr>
            <p:custDataLst>
              <p:tags r:id="rId16"/>
            </p:custDataLst>
          </p:nvPr>
        </p:nvSpPr>
        <p:spPr>
          <a:xfrm>
            <a:off x="2916936" y="3703320"/>
            <a:ext cx="246888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9" name="Shape 15"/>
          <p:cNvSpPr/>
          <p:nvPr>
            <p:custDataLst>
              <p:tags r:id="rId17"/>
            </p:custDataLst>
          </p:nvPr>
        </p:nvSpPr>
        <p:spPr>
          <a:xfrm>
            <a:off x="3200400" y="25374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0F3140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20" name="Shape 16"/>
          <p:cNvSpPr/>
          <p:nvPr>
            <p:custDataLst>
              <p:tags r:id="rId18"/>
            </p:custDataLst>
          </p:nvPr>
        </p:nvSpPr>
        <p:spPr>
          <a:xfrm>
            <a:off x="3319272" y="265633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FFFFF">
              <a:alpha val="25000"/>
            </a:srgbClr>
          </a:solidFill>
        </p:spPr>
      </p:sp>
      <p:pic>
        <p:nvPicPr>
          <p:cNvPr id="21" name="Image 2" descr="icons/uploa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3392424" y="2729484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>
            <p:custDataLst>
              <p:tags r:id="rId21"/>
            </p:custDataLst>
          </p:nvPr>
        </p:nvSpPr>
        <p:spPr>
          <a:xfrm>
            <a:off x="3767328" y="2628900"/>
            <a:ext cx="1316736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Ingestion Layer</a:t>
            </a:r>
            <a:endParaRPr lang="en-US" sz="1150" dirty="0"/>
          </a:p>
        </p:txBody>
      </p:sp>
      <p:sp>
        <p:nvSpPr>
          <p:cNvPr id="23" name="Text 18"/>
          <p:cNvSpPr/>
          <p:nvPr>
            <p:custDataLst>
              <p:tags r:id="rId22"/>
            </p:custDataLst>
          </p:nvPr>
        </p:nvSpPr>
        <p:spPr>
          <a:xfrm>
            <a:off x="3346704" y="3067812"/>
            <a:ext cx="1719072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&amp; dedupe · SQLite</a:t>
            </a:r>
            <a:endParaRPr lang="en-US" sz="850" dirty="0"/>
          </a:p>
        </p:txBody>
      </p:sp>
      <p:sp>
        <p:nvSpPr>
          <p:cNvPr id="24" name="Shape 19"/>
          <p:cNvSpPr/>
          <p:nvPr>
            <p:custDataLst>
              <p:tags r:id="rId23"/>
            </p:custDataLst>
          </p:nvPr>
        </p:nvSpPr>
        <p:spPr>
          <a:xfrm>
            <a:off x="5248656" y="2994660"/>
            <a:ext cx="246888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5" name="Shape 20"/>
          <p:cNvSpPr/>
          <p:nvPr>
            <p:custDataLst>
              <p:tags r:id="rId24"/>
            </p:custDataLst>
          </p:nvPr>
        </p:nvSpPr>
        <p:spPr>
          <a:xfrm>
            <a:off x="5532120" y="25374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0E7C86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26" name="Shape 21"/>
          <p:cNvSpPr/>
          <p:nvPr>
            <p:custDataLst>
              <p:tags r:id="rId25"/>
            </p:custDataLst>
          </p:nvPr>
        </p:nvSpPr>
        <p:spPr>
          <a:xfrm>
            <a:off x="5650992" y="265633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FFFFF">
              <a:alpha val="25000"/>
            </a:srgbClr>
          </a:solidFill>
        </p:spPr>
      </p:sp>
      <p:pic>
        <p:nvPicPr>
          <p:cNvPr id="27" name="Image 3" descr="icons/chart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5724144" y="2729484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>
            <p:custDataLst>
              <p:tags r:id="rId28"/>
            </p:custDataLst>
          </p:nvPr>
        </p:nvSpPr>
        <p:spPr>
          <a:xfrm>
            <a:off x="6099048" y="2628900"/>
            <a:ext cx="1316736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Risk Model</a:t>
            </a:r>
            <a:endParaRPr lang="en-US" sz="1150" dirty="0"/>
          </a:p>
        </p:txBody>
      </p:sp>
      <p:sp>
        <p:nvSpPr>
          <p:cNvPr id="29" name="Text 23"/>
          <p:cNvSpPr/>
          <p:nvPr>
            <p:custDataLst>
              <p:tags r:id="rId29"/>
            </p:custDataLst>
          </p:nvPr>
        </p:nvSpPr>
        <p:spPr>
          <a:xfrm>
            <a:off x="5678424" y="3067812"/>
            <a:ext cx="1719072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→ clip 0–100</a:t>
            </a:r>
            <a:endParaRPr lang="en-US" sz="850" dirty="0"/>
          </a:p>
        </p:txBody>
      </p:sp>
      <p:sp>
        <p:nvSpPr>
          <p:cNvPr id="30" name="Shape 24"/>
          <p:cNvSpPr/>
          <p:nvPr>
            <p:custDataLst>
              <p:tags r:id="rId30"/>
            </p:custDataLst>
          </p:nvPr>
        </p:nvSpPr>
        <p:spPr>
          <a:xfrm>
            <a:off x="7580376" y="2994660"/>
            <a:ext cx="246888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1" name="Shape 25"/>
          <p:cNvSpPr/>
          <p:nvPr>
            <p:custDataLst>
              <p:tags r:id="rId31"/>
            </p:custDataLst>
          </p:nvPr>
        </p:nvSpPr>
        <p:spPr>
          <a:xfrm>
            <a:off x="7863840" y="25374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17A2AE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32" name="Shape 26"/>
          <p:cNvSpPr/>
          <p:nvPr>
            <p:custDataLst>
              <p:tags r:id="rId32"/>
            </p:custDataLst>
          </p:nvPr>
        </p:nvSpPr>
        <p:spPr>
          <a:xfrm>
            <a:off x="7982712" y="265633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FFFFF">
              <a:alpha val="25000"/>
            </a:srgbClr>
          </a:solidFill>
        </p:spPr>
      </p:sp>
      <p:pic>
        <p:nvPicPr>
          <p:cNvPr id="33" name="Image 4" descr="icons/shiel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055864" y="2729484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>
            <p:custDataLst>
              <p:tags r:id="rId35"/>
            </p:custDataLst>
          </p:nvPr>
        </p:nvSpPr>
        <p:spPr>
          <a:xfrm>
            <a:off x="8430768" y="2628900"/>
            <a:ext cx="1316736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 Rule Engine</a:t>
            </a:r>
            <a:endParaRPr lang="en-US" sz="1150" dirty="0"/>
          </a:p>
        </p:txBody>
      </p:sp>
      <p:sp>
        <p:nvSpPr>
          <p:cNvPr id="35" name="Text 28"/>
          <p:cNvSpPr/>
          <p:nvPr>
            <p:custDataLst>
              <p:tags r:id="rId36"/>
            </p:custDataLst>
          </p:nvPr>
        </p:nvSpPr>
        <p:spPr>
          <a:xfrm>
            <a:off x="8010144" y="3067812"/>
            <a:ext cx="1719072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flags</a:t>
            </a:r>
            <a:endParaRPr lang="en-US" sz="850" dirty="0"/>
          </a:p>
        </p:txBody>
      </p:sp>
      <p:sp>
        <p:nvSpPr>
          <p:cNvPr id="36" name="Shape 29"/>
          <p:cNvSpPr/>
          <p:nvPr>
            <p:custDataLst>
              <p:tags r:id="rId37"/>
            </p:custDataLst>
          </p:nvPr>
        </p:nvSpPr>
        <p:spPr>
          <a:xfrm>
            <a:off x="8869680" y="3506724"/>
            <a:ext cx="0" cy="384048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7" name="Shape 30"/>
          <p:cNvSpPr/>
          <p:nvPr>
            <p:custDataLst>
              <p:tags r:id="rId38"/>
            </p:custDataLst>
          </p:nvPr>
        </p:nvSpPr>
        <p:spPr>
          <a:xfrm>
            <a:off x="7269480" y="3890772"/>
            <a:ext cx="3200400" cy="914400"/>
          </a:xfrm>
          <a:prstGeom prst="roundRect">
            <a:avLst>
              <a:gd name="adj" fmla="val 9000"/>
            </a:avLst>
          </a:prstGeom>
          <a:solidFill>
            <a:srgbClr val="0B1E27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38" name="Shape 31"/>
          <p:cNvSpPr/>
          <p:nvPr>
            <p:custDataLst>
              <p:tags r:id="rId39"/>
            </p:custDataLst>
          </p:nvPr>
        </p:nvSpPr>
        <p:spPr>
          <a:xfrm>
            <a:off x="7388352" y="4009644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FFFFF">
              <a:alpha val="25000"/>
            </a:srgbClr>
          </a:solidFill>
        </p:spPr>
      </p:sp>
      <p:pic>
        <p:nvPicPr>
          <p:cNvPr id="39" name="Image 5" descr="icons/robot.png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7461504" y="4082796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>
            <p:custDataLst>
              <p:tags r:id="rId42"/>
            </p:custDataLst>
          </p:nvPr>
        </p:nvSpPr>
        <p:spPr>
          <a:xfrm>
            <a:off x="7836408" y="3982212"/>
            <a:ext cx="2505456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Rationale</a:t>
            </a:r>
            <a:endParaRPr lang="en-US" sz="1150" dirty="0"/>
          </a:p>
        </p:txBody>
      </p:sp>
      <p:sp>
        <p:nvSpPr>
          <p:cNvPr id="41" name="Text 33"/>
          <p:cNvSpPr/>
          <p:nvPr>
            <p:custDataLst>
              <p:tags r:id="rId43"/>
            </p:custDataLst>
          </p:nvPr>
        </p:nvSpPr>
        <p:spPr>
          <a:xfrm>
            <a:off x="7415784" y="4421124"/>
            <a:ext cx="2907792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+ Groq · cached per customer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8869680" y="4860036"/>
            <a:ext cx="0" cy="384048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548640" y="5244084"/>
            <a:ext cx="10515600" cy="777240"/>
          </a:xfrm>
          <a:prstGeom prst="roundRect">
            <a:avLst>
              <a:gd name="adj" fmla="val 10588"/>
            </a:avLst>
          </a:prstGeom>
          <a:solidFill>
            <a:srgbClr val="3FD6BE"/>
          </a:solidFill>
          <a:effectLst>
            <a:outerShdw blurRad="76200" dist="25400" dir="5400000" algn="bl" rotWithShape="0">
              <a:srgbClr val="1B2B32">
                <a:alpha val="1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713232" y="5390388"/>
            <a:ext cx="484632" cy="484632"/>
          </a:xfrm>
          <a:prstGeom prst="roundRect">
            <a:avLst>
              <a:gd name="adj" fmla="val 28000"/>
            </a:avLst>
          </a:prstGeom>
          <a:solidFill>
            <a:srgbClr val="FFFFFF">
              <a:alpha val="40000"/>
            </a:srgbClr>
          </a:solidFill>
        </p:spPr>
      </p:sp>
      <p:pic>
        <p:nvPicPr>
          <p:cNvPr id="45" name="Image 6" descr="icons/layer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04672" y="5481828"/>
            <a:ext cx="301752" cy="30175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71600" y="5335524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 Dashboard</a:t>
            </a:r>
            <a:endParaRPr lang="en-US" sz="1350" dirty="0"/>
          </a:p>
        </p:txBody>
      </p:sp>
      <p:sp>
        <p:nvSpPr>
          <p:cNvPr id="47" name="Text 38"/>
          <p:cNvSpPr/>
          <p:nvPr/>
        </p:nvSpPr>
        <p:spPr>
          <a:xfrm>
            <a:off x="1371600" y="5646420"/>
            <a:ext cx="9418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  ·  Customer Signals  ·  Customer Detail  ·  Model Insights  ·  Data / Upload</a:t>
            </a:r>
            <a:endParaRPr lang="en-US" sz="1050" dirty="0"/>
          </a:p>
        </p:txBody>
      </p:sp>
      <p:sp>
        <p:nvSpPr>
          <p:cNvPr id="48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3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technical decisions across the ML pipeline, the reasoning layer, and the operational UI.</a:t>
            </a:r>
            <a:endParaRPr lang="en-US" sz="12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49808" y="18928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7" name="Image 0" descr="icons/chart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1248" y="19842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371600" y="1911096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Grounded ML Scoring</a:t>
            </a:r>
            <a:endParaRPr lang="en-US" sz="135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749808" y="2468880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trained regression model predicts a 0–100 churn score from 57 structured fields. Risk bands (High ≥70 / Attention 40–69 / Low &lt;40) are fixed thresholds, documented once — never changed mid-demo.</a:t>
            </a:r>
            <a:endParaRPr lang="en-US" sz="1050" dirty="0"/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4142232" y="169164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4343400" y="18928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2" name="Image 1" descr="icons/shiel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434840" y="19842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4965192" y="1911096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Engine Before LLM</a:t>
            </a:r>
            <a:endParaRPr lang="en-US" sz="135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4343400" y="2468880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deterministic rule layer flags concerns first (low satisfaction, open issues, negative sentiment). The LLM explains those flags in plain language — it never invents its own signals.</a:t>
            </a:r>
            <a:endParaRPr lang="en-US" sz="1050" dirty="0"/>
          </a:p>
        </p:txBody>
      </p:sp>
      <p:sp>
        <p:nvSpPr>
          <p:cNvPr id="15" name="Shape 11"/>
          <p:cNvSpPr/>
          <p:nvPr>
            <p:custDataLst>
              <p:tags r:id="rId13"/>
            </p:custDataLst>
          </p:nvPr>
        </p:nvSpPr>
        <p:spPr>
          <a:xfrm>
            <a:off x="7735824" y="169164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16" name="Shape 12"/>
          <p:cNvSpPr/>
          <p:nvPr>
            <p:custDataLst>
              <p:tags r:id="rId14"/>
            </p:custDataLst>
          </p:nvPr>
        </p:nvSpPr>
        <p:spPr>
          <a:xfrm>
            <a:off x="7936992" y="18928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7" name="Image 2" descr="icons/robot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028432" y="19842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>
            <p:custDataLst>
              <p:tags r:id="rId17"/>
            </p:custDataLst>
          </p:nvPr>
        </p:nvSpPr>
        <p:spPr>
          <a:xfrm>
            <a:off x="8558784" y="1911096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Cached, On-Demand Rationale</a:t>
            </a:r>
            <a:endParaRPr lang="en-US" sz="1350" dirty="0"/>
          </a:p>
        </p:txBody>
      </p:sp>
      <p:sp>
        <p:nvSpPr>
          <p:cNvPr id="19" name="Text 14"/>
          <p:cNvSpPr/>
          <p:nvPr>
            <p:custDataLst>
              <p:tags r:id="rId18"/>
            </p:custDataLst>
          </p:nvPr>
        </p:nvSpPr>
        <p:spPr>
          <a:xfrm>
            <a:off x="7936992" y="2468880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+ Groq generate the “Why Flagged” rationale only when a customer card is opened, then cache it — first open takes seconds, every reopen is instant.</a:t>
            </a:r>
            <a:endParaRPr lang="en-US" sz="1050" dirty="0"/>
          </a:p>
        </p:txBody>
      </p:sp>
      <p:sp>
        <p:nvSpPr>
          <p:cNvPr id="20" name="Shape 15"/>
          <p:cNvSpPr/>
          <p:nvPr>
            <p:custDataLst>
              <p:tags r:id="rId19"/>
            </p:custDataLst>
          </p:nvPr>
        </p:nvSpPr>
        <p:spPr>
          <a:xfrm>
            <a:off x="548640" y="3913632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21" name="Shape 16"/>
          <p:cNvSpPr/>
          <p:nvPr>
            <p:custDataLst>
              <p:tags r:id="rId20"/>
            </p:custDataLst>
          </p:nvPr>
        </p:nvSpPr>
        <p:spPr>
          <a:xfrm>
            <a:off x="749808" y="4114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2" name="Image 3" descr="icons/filter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41248" y="42062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>
            <p:custDataLst>
              <p:tags r:id="rId23"/>
            </p:custDataLst>
          </p:nvPr>
        </p:nvSpPr>
        <p:spPr>
          <a:xfrm>
            <a:off x="1371600" y="4133088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Table + Filters</a:t>
            </a:r>
            <a:endParaRPr lang="en-US" sz="1350" dirty="0"/>
          </a:p>
        </p:txBody>
      </p:sp>
      <p:sp>
        <p:nvSpPr>
          <p:cNvPr id="24" name="Text 18"/>
          <p:cNvSpPr/>
          <p:nvPr>
            <p:custDataLst>
              <p:tags r:id="rId24"/>
            </p:custDataLst>
          </p:nvPr>
        </p:nvSpPr>
        <p:spPr>
          <a:xfrm>
            <a:off x="749808" y="4690872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by ID; filter by risk band, sentiment, resolution status, and contract type. Every row is click-through to a full evidence-backed customer profile.</a:t>
            </a:r>
            <a:endParaRPr lang="en-US" sz="1050" dirty="0"/>
          </a:p>
        </p:txBody>
      </p:sp>
      <p:sp>
        <p:nvSpPr>
          <p:cNvPr id="25" name="Shape 19"/>
          <p:cNvSpPr/>
          <p:nvPr>
            <p:custDataLst>
              <p:tags r:id="rId25"/>
            </p:custDataLst>
          </p:nvPr>
        </p:nvSpPr>
        <p:spPr>
          <a:xfrm>
            <a:off x="4142232" y="3913632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26" name="Shape 20"/>
          <p:cNvSpPr/>
          <p:nvPr>
            <p:custDataLst>
              <p:tags r:id="rId26"/>
            </p:custDataLst>
          </p:nvPr>
        </p:nvSpPr>
        <p:spPr>
          <a:xfrm>
            <a:off x="4343400" y="4114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7" name="Image 4" descr="icons/comment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434840" y="42062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>
            <p:custDataLst>
              <p:tags r:id="rId29"/>
            </p:custDataLst>
          </p:nvPr>
        </p:nvSpPr>
        <p:spPr>
          <a:xfrm>
            <a:off x="4965192" y="4133088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Transcript-Aware Detail View</a:t>
            </a:r>
            <a:endParaRPr lang="en-US" sz="1350" dirty="0"/>
          </a:p>
        </p:txBody>
      </p:sp>
      <p:sp>
        <p:nvSpPr>
          <p:cNvPr id="29" name="Text 22"/>
          <p:cNvSpPr/>
          <p:nvPr>
            <p:custDataLst>
              <p:tags r:id="rId30"/>
            </p:custDataLst>
          </p:nvPr>
        </p:nvSpPr>
        <p:spPr>
          <a:xfrm>
            <a:off x="4343400" y="4690872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Support conversations render as colour-coded chat bubbles beside the model output — evidence and explanation sit next to the source text.</a:t>
            </a:r>
            <a:endParaRPr lang="en-US" sz="1050" dirty="0"/>
          </a:p>
        </p:txBody>
      </p:sp>
      <p:sp>
        <p:nvSpPr>
          <p:cNvPr id="30" name="Shape 23"/>
          <p:cNvSpPr/>
          <p:nvPr>
            <p:custDataLst>
              <p:tags r:id="rId31"/>
            </p:custDataLst>
          </p:nvPr>
        </p:nvSpPr>
        <p:spPr>
          <a:xfrm>
            <a:off x="7735824" y="3913632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blurRad="63500" dist="25400" dir="5400000" algn="bl" rotWithShape="0">
              <a:srgbClr val="1B2B32">
                <a:alpha val="10000"/>
              </a:srgbClr>
            </a:outerShdw>
          </a:effectLst>
        </p:spPr>
      </p:sp>
      <p:sp>
        <p:nvSpPr>
          <p:cNvPr id="31" name="Shape 24"/>
          <p:cNvSpPr/>
          <p:nvPr>
            <p:custDataLst>
              <p:tags r:id="rId32"/>
            </p:custDataLst>
          </p:nvPr>
        </p:nvSpPr>
        <p:spPr>
          <a:xfrm>
            <a:off x="7936992" y="41148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32" name="Image 5" descr="icons/bolt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028432" y="42062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>
            <p:custDataLst>
              <p:tags r:id="rId35"/>
            </p:custDataLst>
          </p:nvPr>
        </p:nvSpPr>
        <p:spPr>
          <a:xfrm>
            <a:off x="8558784" y="4133088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Resilient by Design</a:t>
            </a:r>
            <a:endParaRPr lang="en-US" sz="1350" dirty="0"/>
          </a:p>
        </p:txBody>
      </p:sp>
      <p:sp>
        <p:nvSpPr>
          <p:cNvPr id="34" name="Text 26"/>
          <p:cNvSpPr/>
          <p:nvPr>
            <p:custDataLst>
              <p:tags r:id="rId36"/>
            </p:custDataLst>
          </p:nvPr>
        </p:nvSpPr>
        <p:spPr>
          <a:xfrm>
            <a:off x="7936992" y="4690872"/>
            <a:ext cx="2935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Groq call fails or times out, the UI falls back to a template rationale built from the same rule flags — the dashboard never shows a broken screen.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6400800" cy="6400800"/>
          </a:xfrm>
          <a:prstGeom prst="ellipse">
            <a:avLst/>
          </a:prstGeom>
          <a:solidFill>
            <a:srgbClr val="0E7C86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4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&amp; Learnings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Trade-offs made under a 3-day build window, and what they taught.</a:t>
            </a:r>
            <a:endParaRPr lang="en-US" sz="125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48640" y="182880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12B3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768096" y="204825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8" name="Image 0" descr="icons/warn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59536" y="213969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1408176" y="2066544"/>
            <a:ext cx="4069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 vs. hallucination</a:t>
            </a:r>
            <a:endParaRPr lang="en-US" sz="135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768096" y="2670048"/>
            <a:ext cx="4681728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LLM asked to “explain risk” on its own tends to invent plausible-sounding but ungrounded reasons. Fixing this required moving signal detection into a deterministic rule layer and restricting the LLM to explaining only what that layer already found.</a:t>
            </a:r>
            <a:endParaRPr lang="en-US" sz="1100" dirty="0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6126480" y="182880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12B36"/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6345936" y="204825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3" name="Image 1" descr="icons/bolt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437376" y="213969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6986016" y="2066544"/>
            <a:ext cx="4069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cost vs. responsiveness</a:t>
            </a:r>
            <a:endParaRPr lang="en-US" sz="1350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6345936" y="2670048"/>
            <a:ext cx="4681728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Generating an LLM rationale for all 200 customers up front would burn free-tier quota and slow the demo. Switching to on-demand generation with per-customer caching solved both — fast “Process” step, instant repeat views.</a:t>
            </a:r>
            <a:endParaRPr lang="en-US" sz="1100" dirty="0"/>
          </a:p>
        </p:txBody>
      </p:sp>
      <p:sp>
        <p:nvSpPr>
          <p:cNvPr id="16" name="Shape 12"/>
          <p:cNvSpPr/>
          <p:nvPr>
            <p:custDataLst>
              <p:tags r:id="rId13"/>
            </p:custDataLst>
          </p:nvPr>
        </p:nvSpPr>
        <p:spPr>
          <a:xfrm>
            <a:off x="548640" y="420624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12B3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17" name="Shape 13"/>
          <p:cNvSpPr/>
          <p:nvPr>
            <p:custDataLst>
              <p:tags r:id="rId14"/>
            </p:custDataLst>
          </p:nvPr>
        </p:nvSpPr>
        <p:spPr>
          <a:xfrm>
            <a:off x="768096" y="44256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8" name="Image 2" descr="icons/db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59536" y="451713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>
            <p:custDataLst>
              <p:tags r:id="rId17"/>
            </p:custDataLst>
          </p:nvPr>
        </p:nvSpPr>
        <p:spPr>
          <a:xfrm>
            <a:off x="1408176" y="4443984"/>
            <a:ext cx="4069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 columns vs. decision-relevant fields</a:t>
            </a:r>
            <a:endParaRPr lang="en-US" sz="1350" dirty="0"/>
          </a:p>
        </p:txBody>
      </p:sp>
      <p:sp>
        <p:nvSpPr>
          <p:cNvPr id="20" name="Text 15"/>
          <p:cNvSpPr/>
          <p:nvPr>
            <p:custDataLst>
              <p:tags r:id="rId18"/>
            </p:custDataLst>
          </p:nvPr>
        </p:nvSpPr>
        <p:spPr>
          <a:xfrm>
            <a:off x="768096" y="5047488"/>
            <a:ext cx="4681728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raw CSV schema is wide. Showing all of it by default turned the profile into a database viewer. The fix was a 7-field decision view with a “View all details” disclosure underneath.</a:t>
            </a:r>
            <a:endParaRPr lang="en-US" sz="1100" dirty="0"/>
          </a:p>
        </p:txBody>
      </p:sp>
      <p:sp>
        <p:nvSpPr>
          <p:cNvPr id="21" name="Shape 16"/>
          <p:cNvSpPr/>
          <p:nvPr>
            <p:custDataLst>
              <p:tags r:id="rId19"/>
            </p:custDataLst>
          </p:nvPr>
        </p:nvSpPr>
        <p:spPr>
          <a:xfrm>
            <a:off x="6126480" y="420624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12B3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22" name="Shape 17"/>
          <p:cNvSpPr/>
          <p:nvPr>
            <p:custDataLst>
              <p:tags r:id="rId20"/>
            </p:custDataLst>
          </p:nvPr>
        </p:nvSpPr>
        <p:spPr>
          <a:xfrm>
            <a:off x="6345936" y="44256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3" name="Image 3" descr="icons/clipboar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6437376" y="451713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>
            <p:custDataLst>
              <p:tags r:id="rId23"/>
            </p:custDataLst>
          </p:nvPr>
        </p:nvSpPr>
        <p:spPr>
          <a:xfrm>
            <a:off x="6986016" y="4443984"/>
            <a:ext cx="4069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vs. probability language</a:t>
            </a:r>
            <a:endParaRPr lang="en-US" sz="1350" dirty="0"/>
          </a:p>
        </p:txBody>
      </p:sp>
      <p:sp>
        <p:nvSpPr>
          <p:cNvPr id="25" name="Text 19"/>
          <p:cNvSpPr/>
          <p:nvPr>
            <p:custDataLst>
              <p:tags r:id="rId24"/>
            </p:custDataLst>
          </p:nvPr>
        </p:nvSpPr>
        <p:spPr>
          <a:xfrm>
            <a:off x="6345936" y="5047488"/>
            <a:ext cx="4681728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outputs a regression score, not a calibrated probability. Labelling it “Predicted Risk Score / 100” instead of “Churn Probability %” keeps the UI honest about what the model actually does.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5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Demo Summary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Prototype Delivers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7" name="Image 0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57984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066544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flow: upload data → process → prioritised risk dashboard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2761488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0" name="Image 1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81635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24912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Regression-based churn score (0-100) with fixed, documented risk bands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68680" y="3419856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3" name="Image 2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4747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383280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Evidence-grounded “Why Flagged” rationale per customer, via LangChain + Groq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68680" y="4078224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6" name="Image 3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133088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041648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customer detail view: profile, signals, transcript, feedback, sentiment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68680" y="4736592"/>
            <a:ext cx="292608" cy="292608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19" name="Image 4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791456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700016"/>
            <a:ext cx="44805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E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Insights screen with real feature importances for auditability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868680" y="544068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0B1E27"/>
          </a:solidFill>
        </p:spPr>
      </p:sp>
      <p:sp>
        <p:nvSpPr>
          <p:cNvPr id="22" name="Text 15"/>
          <p:cNvSpPr/>
          <p:nvPr/>
        </p:nvSpPr>
        <p:spPr>
          <a:xfrm>
            <a:off x="1051560" y="5440680"/>
            <a:ext cx="4480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D6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link / repository:  [ add before submission ]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17920" y="137160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0F3140"/>
          </a:solidFill>
        </p:spPr>
      </p:sp>
      <p:sp>
        <p:nvSpPr>
          <p:cNvPr id="24" name="Text 17"/>
          <p:cNvSpPr/>
          <p:nvPr/>
        </p:nvSpPr>
        <p:spPr>
          <a:xfrm>
            <a:off x="6537960" y="16002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Potential Next Steps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6537960" y="210312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26" name="Image 5" descr="icons/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85416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2084832"/>
            <a:ext cx="4434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Multi-signal correlation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7086600" y="2395728"/>
            <a:ext cx="4434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sentiment with billing history for a compound risk view.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537960" y="299923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30" name="Image 6" descr="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3081528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86600" y="2980944"/>
            <a:ext cx="4434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risk heatmap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7086600" y="3291840"/>
            <a:ext cx="4434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Geographic or segment-level view of concentrated churn risk.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6537960" y="389534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34" name="Image 7" descr="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977640"/>
            <a:ext cx="256032" cy="25603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86600" y="3877056"/>
            <a:ext cx="4434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Suggested retention actions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7086600" y="4187952"/>
            <a:ext cx="4434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recommended next step per flagged customer, ops-reviewable.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6537960" y="47914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E7C86"/>
          </a:solidFill>
        </p:spPr>
      </p:sp>
      <p:pic>
        <p:nvPicPr>
          <p:cNvPr id="38" name="Image 8" descr="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873752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086600" y="4773168"/>
            <a:ext cx="4434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monitoring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7086600" y="5084064"/>
            <a:ext cx="4434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C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from static batch upload to a live, streaming signal feed.</a:t>
            </a:r>
            <a:endParaRPr lang="en-US" sz="1050" dirty="0"/>
          </a:p>
        </p:txBody>
      </p:sp>
      <p:sp>
        <p:nvSpPr>
          <p:cNvPr id="41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Customer Signal Detector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7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4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5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6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7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8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9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0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1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2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3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4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5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6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7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8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19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0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1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2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3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4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5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6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7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8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29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0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1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2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3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4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5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6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7.xml><?xml version="1.0" encoding="utf-8"?>
<p:tagLst xmlns:p="http://schemas.openxmlformats.org/presentationml/2006/main">
  <p:tag name="KSO_WM_DIAGRAM_VIRTUALLY_FRAME" val="{&quot;height&quot;:234.35999999999999,&quot;left&quot;:43.2,&quot;top&quot;:144,&quot;width&quot;:781.2}"/>
</p:tagLst>
</file>

<file path=ppt/tags/tag38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39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0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1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2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3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4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5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6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7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8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49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0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1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2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3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4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5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6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7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8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59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0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1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2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3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4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5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6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7.xml><?xml version="1.0" encoding="utf-8"?>
<p:tagLst xmlns:p="http://schemas.openxmlformats.org/presentationml/2006/main">
  <p:tag name="KSO_WM_DIAGRAM_VIRTUALLY_FRAME" val="{&quot;height&quot;:329.76000000000005,&quot;left&quot;:43.2,&quot;top&quot;:133.2,&quot;width&quot;:828.72}"/>
</p:tagLst>
</file>

<file path=ppt/tags/tag68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69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0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1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2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3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4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5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6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7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8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79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80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81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82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83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84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85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86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ags/tag87.xml><?xml version="1.0" encoding="utf-8"?>
<p:tagLst xmlns:p="http://schemas.openxmlformats.org/presentationml/2006/main">
  <p:tag name="KSO_WM_DIAGRAM_VIRTUALLY_FRAME" val="{&quot;height&quot;:356.4,&quot;left&quot;:43.2,&quot;top&quot;:144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4719</Words>
  <Application>WPS Presentation</Application>
  <PresentationFormat>On-screen Show (16:9)</PresentationFormat>
  <Paragraphs>175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chskc</cp:lastModifiedBy>
  <cp:revision>3</cp:revision>
  <dcterms:created xsi:type="dcterms:W3CDTF">2026-08-13T21:27:00Z</dcterms:created>
  <dcterms:modified xsi:type="dcterms:W3CDTF">2026-08-14T06:09:53Z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F4B2FD723742443A873CE474380B382E_12</vt:lpwstr>
  </property>
  <property fmtid="{D5CDD505-2E9C-101B-9397-08002B2CF9AE}" pid="3" name="KSOProductBuildVer">
    <vt:lpwstr>2057-12.2.0.23206</vt:lpwstr>
  </property>
</Properties>
</file>