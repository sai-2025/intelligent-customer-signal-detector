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6" Type="http://schemas.openxmlformats.org/officeDocument/2006/relationships/notesSlide" Target="../notesSlides/notesSlide2.xml"/><Relationship Id="rId45" Type="http://schemas.openxmlformats.org/officeDocument/2006/relationships/slideLayout" Target="../slideLayouts/slideLayout1.xml"/><Relationship Id="rId44" Type="http://schemas.openxmlformats.org/officeDocument/2006/relationships/image" Target="../media/image9.png"/><Relationship Id="rId43" Type="http://schemas.openxmlformats.org/officeDocument/2006/relationships/tags" Target="../tags/tag37.xml"/><Relationship Id="rId42" Type="http://schemas.openxmlformats.org/officeDocument/2006/relationships/tags" Target="../tags/tag36.xml"/><Relationship Id="rId41" Type="http://schemas.openxmlformats.org/officeDocument/2006/relationships/image" Target="../media/image8.png"/><Relationship Id="rId40" Type="http://schemas.openxmlformats.org/officeDocument/2006/relationships/tags" Target="../tags/tag35.xml"/><Relationship Id="rId4" Type="http://schemas.openxmlformats.org/officeDocument/2006/relationships/image" Target="../media/image3.png"/><Relationship Id="rId39" Type="http://schemas.openxmlformats.org/officeDocument/2006/relationships/tags" Target="../tags/tag34.xml"/><Relationship Id="rId38" Type="http://schemas.openxmlformats.org/officeDocument/2006/relationships/tags" Target="../tags/tag33.xml"/><Relationship Id="rId37" Type="http://schemas.openxmlformats.org/officeDocument/2006/relationships/tags" Target="../tags/tag32.xml"/><Relationship Id="rId36" Type="http://schemas.openxmlformats.org/officeDocument/2006/relationships/tags" Target="../tags/tag31.xml"/><Relationship Id="rId35" Type="http://schemas.openxmlformats.org/officeDocument/2006/relationships/tags" Target="../tags/tag30.xml"/><Relationship Id="rId34" Type="http://schemas.openxmlformats.org/officeDocument/2006/relationships/image" Target="../media/image7.png"/><Relationship Id="rId33" Type="http://schemas.openxmlformats.org/officeDocument/2006/relationships/tags" Target="../tags/tag29.xml"/><Relationship Id="rId32" Type="http://schemas.openxmlformats.org/officeDocument/2006/relationships/tags" Target="../tags/tag28.xml"/><Relationship Id="rId31" Type="http://schemas.openxmlformats.org/officeDocument/2006/relationships/tags" Target="../tags/tag27.xml"/><Relationship Id="rId30" Type="http://schemas.openxmlformats.org/officeDocument/2006/relationships/tags" Target="../tags/tag26.xml"/><Relationship Id="rId3" Type="http://schemas.openxmlformats.org/officeDocument/2006/relationships/tags" Target="../tags/tag3.xml"/><Relationship Id="rId29" Type="http://schemas.openxmlformats.org/officeDocument/2006/relationships/tags" Target="../tags/tag25.xml"/><Relationship Id="rId28" Type="http://schemas.openxmlformats.org/officeDocument/2006/relationships/tags" Target="../tags/tag24.xml"/><Relationship Id="rId27" Type="http://schemas.openxmlformats.org/officeDocument/2006/relationships/image" Target="../media/image6.png"/><Relationship Id="rId26" Type="http://schemas.openxmlformats.org/officeDocument/2006/relationships/tags" Target="../tags/tag23.xml"/><Relationship Id="rId25" Type="http://schemas.openxmlformats.org/officeDocument/2006/relationships/tags" Target="../tags/tag22.xml"/><Relationship Id="rId24" Type="http://schemas.openxmlformats.org/officeDocument/2006/relationships/tags" Target="../tags/tag21.xml"/><Relationship Id="rId23" Type="http://schemas.openxmlformats.org/officeDocument/2006/relationships/tags" Target="../tags/tag20.xml"/><Relationship Id="rId22" Type="http://schemas.openxmlformats.org/officeDocument/2006/relationships/tags" Target="../tags/tag19.xml"/><Relationship Id="rId21" Type="http://schemas.openxmlformats.org/officeDocument/2006/relationships/tags" Target="../tags/tag18.xml"/><Relationship Id="rId20" Type="http://schemas.openxmlformats.org/officeDocument/2006/relationships/image" Target="../media/image5.png"/><Relationship Id="rId2" Type="http://schemas.openxmlformats.org/officeDocument/2006/relationships/tags" Target="../tags/tag2.xml"/><Relationship Id="rId19" Type="http://schemas.openxmlformats.org/officeDocument/2006/relationships/tags" Target="../tags/tag17.xml"/><Relationship Id="rId18" Type="http://schemas.openxmlformats.org/officeDocument/2006/relationships/tags" Target="../tags/tag16.xml"/><Relationship Id="rId17" Type="http://schemas.openxmlformats.org/officeDocument/2006/relationships/tags" Target="../tags/tag15.xml"/><Relationship Id="rId16" Type="http://schemas.openxmlformats.org/officeDocument/2006/relationships/tags" Target="../tags/tag14.xml"/><Relationship Id="rId15" Type="http://schemas.openxmlformats.org/officeDocument/2006/relationships/tags" Target="../tags/tag13.xml"/><Relationship Id="rId14" Type="http://schemas.openxmlformats.org/officeDocument/2006/relationships/tags" Target="../tags/tag12.xml"/><Relationship Id="rId13" Type="http://schemas.openxmlformats.org/officeDocument/2006/relationships/tags" Target="../tags/tag11.xml"/><Relationship Id="rId12" Type="http://schemas.openxmlformats.org/officeDocument/2006/relationships/tags" Target="../tags/tag10.xml"/><Relationship Id="rId11" Type="http://schemas.openxmlformats.org/officeDocument/2006/relationships/tags" Target="../tags/tag9.xml"/><Relationship Id="rId10" Type="http://schemas.openxmlformats.org/officeDocument/2006/relationships/image" Target="../media/image4.png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45.xml"/><Relationship Id="rId8" Type="http://schemas.openxmlformats.org/officeDocument/2006/relationships/tags" Target="../tags/tag44.xml"/><Relationship Id="rId7" Type="http://schemas.openxmlformats.org/officeDocument/2006/relationships/tags" Target="../tags/tag43.xml"/><Relationship Id="rId6" Type="http://schemas.openxmlformats.org/officeDocument/2006/relationships/tags" Target="../tags/tag42.xml"/><Relationship Id="rId5" Type="http://schemas.openxmlformats.org/officeDocument/2006/relationships/tags" Target="../tags/tag41.xml"/><Relationship Id="rId4" Type="http://schemas.openxmlformats.org/officeDocument/2006/relationships/image" Target="../media/image6.png"/><Relationship Id="rId38" Type="http://schemas.openxmlformats.org/officeDocument/2006/relationships/notesSlide" Target="../notesSlides/notesSlide3.xml"/><Relationship Id="rId37" Type="http://schemas.openxmlformats.org/officeDocument/2006/relationships/slideLayout" Target="../slideLayouts/slideLayout1.xml"/><Relationship Id="rId36" Type="http://schemas.openxmlformats.org/officeDocument/2006/relationships/tags" Target="../tags/tag67.xml"/><Relationship Id="rId35" Type="http://schemas.openxmlformats.org/officeDocument/2006/relationships/tags" Target="../tags/tag66.xml"/><Relationship Id="rId34" Type="http://schemas.openxmlformats.org/officeDocument/2006/relationships/image" Target="../media/image11.png"/><Relationship Id="rId33" Type="http://schemas.openxmlformats.org/officeDocument/2006/relationships/tags" Target="../tags/tag65.xml"/><Relationship Id="rId32" Type="http://schemas.openxmlformats.org/officeDocument/2006/relationships/tags" Target="../tags/tag64.xml"/><Relationship Id="rId31" Type="http://schemas.openxmlformats.org/officeDocument/2006/relationships/tags" Target="../tags/tag63.xml"/><Relationship Id="rId30" Type="http://schemas.openxmlformats.org/officeDocument/2006/relationships/tags" Target="../tags/tag62.xml"/><Relationship Id="rId3" Type="http://schemas.openxmlformats.org/officeDocument/2006/relationships/tags" Target="../tags/tag40.xml"/><Relationship Id="rId29" Type="http://schemas.openxmlformats.org/officeDocument/2006/relationships/tags" Target="../tags/tag61.xml"/><Relationship Id="rId28" Type="http://schemas.openxmlformats.org/officeDocument/2006/relationships/image" Target="../media/image4.png"/><Relationship Id="rId27" Type="http://schemas.openxmlformats.org/officeDocument/2006/relationships/tags" Target="../tags/tag60.xml"/><Relationship Id="rId26" Type="http://schemas.openxmlformats.org/officeDocument/2006/relationships/tags" Target="../tags/tag59.xml"/><Relationship Id="rId25" Type="http://schemas.openxmlformats.org/officeDocument/2006/relationships/tags" Target="../tags/tag58.xml"/><Relationship Id="rId24" Type="http://schemas.openxmlformats.org/officeDocument/2006/relationships/tags" Target="../tags/tag57.xml"/><Relationship Id="rId23" Type="http://schemas.openxmlformats.org/officeDocument/2006/relationships/tags" Target="../tags/tag56.xml"/><Relationship Id="rId22" Type="http://schemas.openxmlformats.org/officeDocument/2006/relationships/image" Target="../media/image10.png"/><Relationship Id="rId21" Type="http://schemas.openxmlformats.org/officeDocument/2006/relationships/tags" Target="../tags/tag55.xml"/><Relationship Id="rId20" Type="http://schemas.openxmlformats.org/officeDocument/2006/relationships/tags" Target="../tags/tag54.xml"/><Relationship Id="rId2" Type="http://schemas.openxmlformats.org/officeDocument/2006/relationships/tags" Target="../tags/tag39.xml"/><Relationship Id="rId19" Type="http://schemas.openxmlformats.org/officeDocument/2006/relationships/tags" Target="../tags/tag53.xml"/><Relationship Id="rId18" Type="http://schemas.openxmlformats.org/officeDocument/2006/relationships/tags" Target="../tags/tag52.xml"/><Relationship Id="rId17" Type="http://schemas.openxmlformats.org/officeDocument/2006/relationships/tags" Target="../tags/tag51.xml"/><Relationship Id="rId16" Type="http://schemas.openxmlformats.org/officeDocument/2006/relationships/image" Target="../media/image8.png"/><Relationship Id="rId15" Type="http://schemas.openxmlformats.org/officeDocument/2006/relationships/tags" Target="../tags/tag50.xml"/><Relationship Id="rId14" Type="http://schemas.openxmlformats.org/officeDocument/2006/relationships/tags" Target="../tags/tag49.xml"/><Relationship Id="rId13" Type="http://schemas.openxmlformats.org/officeDocument/2006/relationships/tags" Target="../tags/tag48.xml"/><Relationship Id="rId12" Type="http://schemas.openxmlformats.org/officeDocument/2006/relationships/tags" Target="../tags/tag47.xml"/><Relationship Id="rId11" Type="http://schemas.openxmlformats.org/officeDocument/2006/relationships/tags" Target="../tags/tag46.xml"/><Relationship Id="rId10" Type="http://schemas.openxmlformats.org/officeDocument/2006/relationships/image" Target="../media/image7.png"/><Relationship Id="rId1" Type="http://schemas.openxmlformats.org/officeDocument/2006/relationships/tags" Target="../tags/tag38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75.xml"/><Relationship Id="rId8" Type="http://schemas.openxmlformats.org/officeDocument/2006/relationships/tags" Target="../tags/tag74.xml"/><Relationship Id="rId7" Type="http://schemas.openxmlformats.org/officeDocument/2006/relationships/tags" Target="../tags/tag73.xml"/><Relationship Id="rId6" Type="http://schemas.openxmlformats.org/officeDocument/2006/relationships/tags" Target="../tags/tag72.xml"/><Relationship Id="rId5" Type="http://schemas.openxmlformats.org/officeDocument/2006/relationships/tags" Target="../tags/tag71.xml"/><Relationship Id="rId4" Type="http://schemas.openxmlformats.org/officeDocument/2006/relationships/image" Target="../media/image12.png"/><Relationship Id="rId3" Type="http://schemas.openxmlformats.org/officeDocument/2006/relationships/tags" Target="../tags/tag70.xml"/><Relationship Id="rId26" Type="http://schemas.openxmlformats.org/officeDocument/2006/relationships/notesSlide" Target="../notesSlides/notesSlide4.xml"/><Relationship Id="rId25" Type="http://schemas.openxmlformats.org/officeDocument/2006/relationships/slideLayout" Target="../slideLayouts/slideLayout1.xml"/><Relationship Id="rId24" Type="http://schemas.openxmlformats.org/officeDocument/2006/relationships/tags" Target="../tags/tag87.xml"/><Relationship Id="rId23" Type="http://schemas.openxmlformats.org/officeDocument/2006/relationships/tags" Target="../tags/tag86.xml"/><Relationship Id="rId22" Type="http://schemas.openxmlformats.org/officeDocument/2006/relationships/image" Target="../media/image13.png"/><Relationship Id="rId21" Type="http://schemas.openxmlformats.org/officeDocument/2006/relationships/tags" Target="../tags/tag85.xml"/><Relationship Id="rId20" Type="http://schemas.openxmlformats.org/officeDocument/2006/relationships/tags" Target="../tags/tag84.xml"/><Relationship Id="rId2" Type="http://schemas.openxmlformats.org/officeDocument/2006/relationships/tags" Target="../tags/tag69.xml"/><Relationship Id="rId19" Type="http://schemas.openxmlformats.org/officeDocument/2006/relationships/tags" Target="../tags/tag83.xml"/><Relationship Id="rId18" Type="http://schemas.openxmlformats.org/officeDocument/2006/relationships/tags" Target="../tags/tag82.xml"/><Relationship Id="rId17" Type="http://schemas.openxmlformats.org/officeDocument/2006/relationships/tags" Target="../tags/tag81.xml"/><Relationship Id="rId16" Type="http://schemas.openxmlformats.org/officeDocument/2006/relationships/image" Target="../media/image3.png"/><Relationship Id="rId15" Type="http://schemas.openxmlformats.org/officeDocument/2006/relationships/tags" Target="../tags/tag80.xml"/><Relationship Id="rId14" Type="http://schemas.openxmlformats.org/officeDocument/2006/relationships/tags" Target="../tags/tag79.xml"/><Relationship Id="rId13" Type="http://schemas.openxmlformats.org/officeDocument/2006/relationships/tags" Target="../tags/tag78.xml"/><Relationship Id="rId12" Type="http://schemas.openxmlformats.org/officeDocument/2006/relationships/tags" Target="../tags/tag77.xml"/><Relationship Id="rId11" Type="http://schemas.openxmlformats.org/officeDocument/2006/relationships/tags" Target="../tags/tag76.xml"/><Relationship Id="rId10" Type="http://schemas.openxmlformats.org/officeDocument/2006/relationships/image" Target="../media/image11.png"/><Relationship Id="rId1" Type="http://schemas.openxmlformats.org/officeDocument/2006/relationships/tags" Target="../tags/tag68.xml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5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0E7C86">
              <a:alpha val="22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-2286000" y="4206240"/>
            <a:ext cx="5486400" cy="5486400"/>
          </a:xfrm>
          <a:prstGeom prst="ellipse">
            <a:avLst/>
          </a:prstGeom>
          <a:solidFill>
            <a:srgbClr val="3FD6BE">
              <a:alpha val="15000"/>
            </a:srgbClr>
          </a:solidFill>
        </p:spPr>
      </p:sp>
      <p:sp>
        <p:nvSpPr>
          <p:cNvPr id="4" name="Text 2"/>
          <p:cNvSpPr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FD6B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POC  ·  SLIDE 1 OF 5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9601200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Intelligent Customer Signal Detector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9144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FC3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Problem Understanding &amp; Objective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5120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FD6B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The Problem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880360"/>
            <a:ext cx="512064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Customer operations teams react </a:t>
            </a:r>
            <a:r>
              <a:rPr lang="en-US" sz="1450" i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after</a:t>
            </a:r>
            <a:r>
              <a:rPr lang="en-US" sz="14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the fact — by the time a complaint escalates or a cancellation request lands, the chance to intervene has already passed.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0080" y="3794760"/>
            <a:ext cx="512064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9FC3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Signals exist — support chat logs, billing records, satisfaction scores — but they sit siloed across systems and are reviewed manually, one ticket at a time.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172200" y="2468880"/>
            <a:ext cx="5394960" cy="3291840"/>
          </a:xfrm>
          <a:prstGeom prst="roundRect">
            <a:avLst>
              <a:gd name="adj" fmla="val 3333"/>
            </a:avLst>
          </a:prstGeom>
          <a:solidFill>
            <a:srgbClr val="112B3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274320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12" name="Image 0" descr="icons/bullsey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3408" y="2944368"/>
            <a:ext cx="146304" cy="14630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7223760" y="2770632"/>
            <a:ext cx="4114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Objective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492240" y="3429000"/>
            <a:ext cx="4754880" cy="10515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Design and demonstrate an AI prototype that analyses customer interaction data — feedback, support transcripts, and usage patterns — to surface early-warning signals and behavioural trends before they escalate.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492240" y="45720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16" name="Image 1" descr="icons/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7104" y="4626864"/>
            <a:ext cx="164592" cy="16459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885432" y="4535424"/>
            <a:ext cx="434340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Prioritised list of at-risk customers, with reasoning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492240" y="4974336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19" name="Image 2" descr="icons/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7104" y="5029200"/>
            <a:ext cx="164592" cy="16459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885432" y="4937760"/>
            <a:ext cx="434340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Risk / urgency score per customer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492240" y="5376672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22" name="Image 3" descr="icons/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7104" y="5431536"/>
            <a:ext cx="164592" cy="16459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885432" y="5340096"/>
            <a:ext cx="434340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Brief AI rationale, clear for a retention team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640080" y="5806440"/>
            <a:ext cx="265176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FD6B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3 days</a:t>
            </a:r>
            <a:endParaRPr lang="en-US" sz="2600" dirty="0"/>
          </a:p>
        </p:txBody>
      </p:sp>
      <p:sp>
        <p:nvSpPr>
          <p:cNvPr id="25" name="Text 19"/>
          <p:cNvSpPr/>
          <p:nvPr/>
        </p:nvSpPr>
        <p:spPr>
          <a:xfrm>
            <a:off x="640080" y="6291072"/>
            <a:ext cx="26517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FC3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build window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3520440" y="5806440"/>
            <a:ext cx="265176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FD6B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57</a:t>
            </a:r>
            <a:endParaRPr lang="en-US" sz="2600" dirty="0"/>
          </a:p>
        </p:txBody>
      </p:sp>
      <p:sp>
        <p:nvSpPr>
          <p:cNvPr id="27" name="Text 21"/>
          <p:cNvSpPr/>
          <p:nvPr/>
        </p:nvSpPr>
        <p:spPr>
          <a:xfrm>
            <a:off x="3520440" y="6291072"/>
            <a:ext cx="26517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FC3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structured signal fields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6400800" y="5806440"/>
            <a:ext cx="265176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FD6B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200</a:t>
            </a:r>
            <a:endParaRPr lang="en-US" sz="2600" dirty="0"/>
          </a:p>
        </p:txBody>
      </p:sp>
      <p:sp>
        <p:nvSpPr>
          <p:cNvPr id="29" name="Text 23"/>
          <p:cNvSpPr/>
          <p:nvPr/>
        </p:nvSpPr>
        <p:spPr>
          <a:xfrm>
            <a:off x="6400800" y="6291072"/>
            <a:ext cx="26517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FC3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customers in demo dataset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Intelligent Customer Signal Detector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 / 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4572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SLIDE 2 OF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E27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Solution Architecture &amp; Design Flow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78992"/>
            <a:ext cx="10515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Structured records and support transcripts flow through a deterministic ML + rule layer before an LLM explains the result.</a:t>
            </a:r>
            <a:endParaRPr lang="en-US" sz="1250" dirty="0"/>
          </a:p>
        </p:txBody>
      </p:sp>
      <p:sp>
        <p:nvSpPr>
          <p:cNvPr id="5" name="Shape 3"/>
          <p:cNvSpPr/>
          <p:nvPr>
            <p:custDataLst>
              <p:tags r:id="rId1"/>
            </p:custDataLst>
          </p:nvPr>
        </p:nvSpPr>
        <p:spPr>
          <a:xfrm>
            <a:off x="548640" y="1828800"/>
            <a:ext cx="233172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effectLst>
            <a:outerShdw blurRad="76200" dist="25400" dir="5400000" algn="bl" rotWithShape="0">
              <a:srgbClr val="1B2B32">
                <a:alpha val="18000"/>
              </a:srgbClr>
            </a:outerShdw>
          </a:effectLst>
        </p:spPr>
      </p:sp>
      <p:sp>
        <p:nvSpPr>
          <p:cNvPr id="6" name="Shape 4"/>
          <p:cNvSpPr/>
          <p:nvPr>
            <p:custDataLst>
              <p:tags r:id="rId2"/>
            </p:custDataLst>
          </p:nvPr>
        </p:nvSpPr>
        <p:spPr>
          <a:xfrm>
            <a:off x="667512" y="194767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7" name="Image 0" descr="icons/db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40664" y="2020824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>
            <p:custDataLst>
              <p:tags r:id="rId5"/>
            </p:custDataLst>
          </p:nvPr>
        </p:nvSpPr>
        <p:spPr>
          <a:xfrm>
            <a:off x="1115568" y="1920240"/>
            <a:ext cx="1636776" cy="29260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0B1E2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Customer CSV</a:t>
            </a:r>
            <a:endParaRPr lang="en-US" sz="1150" dirty="0"/>
          </a:p>
        </p:txBody>
      </p:sp>
      <p:sp>
        <p:nvSpPr>
          <p:cNvPr id="9" name="Text 6"/>
          <p:cNvSpPr/>
          <p:nvPr>
            <p:custDataLst>
              <p:tags r:id="rId6"/>
            </p:custDataLst>
          </p:nvPr>
        </p:nvSpPr>
        <p:spPr>
          <a:xfrm>
            <a:off x="694944" y="2359152"/>
            <a:ext cx="2039112" cy="3291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Structured records, 57 fields</a:t>
            </a:r>
            <a:endParaRPr lang="en-US" sz="850" dirty="0"/>
          </a:p>
        </p:txBody>
      </p:sp>
      <p:sp>
        <p:nvSpPr>
          <p:cNvPr id="10" name="Shape 7"/>
          <p:cNvSpPr/>
          <p:nvPr>
            <p:custDataLst>
              <p:tags r:id="rId7"/>
            </p:custDataLst>
          </p:nvPr>
        </p:nvSpPr>
        <p:spPr>
          <a:xfrm>
            <a:off x="548640" y="3246120"/>
            <a:ext cx="233172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effectLst>
            <a:outerShdw blurRad="76200" dist="25400" dir="5400000" algn="bl" rotWithShape="0">
              <a:srgbClr val="1B2B32">
                <a:alpha val="18000"/>
              </a:srgbClr>
            </a:outerShdw>
          </a:effectLst>
        </p:spPr>
      </p:sp>
      <p:sp>
        <p:nvSpPr>
          <p:cNvPr id="11" name="Shape 8"/>
          <p:cNvSpPr/>
          <p:nvPr>
            <p:custDataLst>
              <p:tags r:id="rId8"/>
            </p:custDataLst>
          </p:nvPr>
        </p:nvSpPr>
        <p:spPr>
          <a:xfrm>
            <a:off x="667512" y="336499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12" name="Image 1" descr="icons/comment.png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740664" y="3438144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>
            <p:custDataLst>
              <p:tags r:id="rId11"/>
            </p:custDataLst>
          </p:nvPr>
        </p:nvSpPr>
        <p:spPr>
          <a:xfrm>
            <a:off x="1115568" y="3337560"/>
            <a:ext cx="1636776" cy="29260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0B1E2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Support Transcripts</a:t>
            </a:r>
            <a:endParaRPr lang="en-US" sz="1150" dirty="0"/>
          </a:p>
        </p:txBody>
      </p:sp>
      <p:sp>
        <p:nvSpPr>
          <p:cNvPr id="14" name="Text 10"/>
          <p:cNvSpPr/>
          <p:nvPr>
            <p:custDataLst>
              <p:tags r:id="rId12"/>
            </p:custDataLst>
          </p:nvPr>
        </p:nvSpPr>
        <p:spPr>
          <a:xfrm>
            <a:off x="694944" y="3776472"/>
            <a:ext cx="2039112" cy="3291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.txt call/chat logs</a:t>
            </a:r>
            <a:endParaRPr lang="en-US" sz="850" dirty="0"/>
          </a:p>
        </p:txBody>
      </p:sp>
      <p:sp>
        <p:nvSpPr>
          <p:cNvPr id="15" name="Shape 11"/>
          <p:cNvSpPr/>
          <p:nvPr>
            <p:custDataLst>
              <p:tags r:id="rId13"/>
            </p:custDataLst>
          </p:nvPr>
        </p:nvSpPr>
        <p:spPr>
          <a:xfrm>
            <a:off x="548640" y="1828800"/>
            <a:ext cx="2331720" cy="914400"/>
          </a:xfrm>
          <a:prstGeom prst="roundRect">
            <a:avLst>
              <a:gd name="adj" fmla="val 9000"/>
            </a:avLst>
          </a:prstGeom>
          <a:ln w="12700">
            <a:solidFill>
              <a:srgbClr val="DCE6E8"/>
            </a:solidFill>
            <a:prstDash val="solid"/>
          </a:ln>
        </p:spPr>
      </p:sp>
      <p:sp>
        <p:nvSpPr>
          <p:cNvPr id="16" name="Shape 12"/>
          <p:cNvSpPr/>
          <p:nvPr>
            <p:custDataLst>
              <p:tags r:id="rId14"/>
            </p:custDataLst>
          </p:nvPr>
        </p:nvSpPr>
        <p:spPr>
          <a:xfrm>
            <a:off x="548640" y="3246120"/>
            <a:ext cx="2331720" cy="914400"/>
          </a:xfrm>
          <a:prstGeom prst="roundRect">
            <a:avLst>
              <a:gd name="adj" fmla="val 9000"/>
            </a:avLst>
          </a:prstGeom>
          <a:ln w="12700">
            <a:solidFill>
              <a:srgbClr val="DCE6E8"/>
            </a:solidFill>
            <a:prstDash val="solid"/>
          </a:ln>
        </p:spPr>
      </p:sp>
      <p:sp>
        <p:nvSpPr>
          <p:cNvPr id="17" name="Shape 13"/>
          <p:cNvSpPr/>
          <p:nvPr>
            <p:custDataLst>
              <p:tags r:id="rId15"/>
            </p:custDataLst>
          </p:nvPr>
        </p:nvSpPr>
        <p:spPr>
          <a:xfrm>
            <a:off x="2916936" y="2286000"/>
            <a:ext cx="246888" cy="0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8" name="Shape 14"/>
          <p:cNvSpPr/>
          <p:nvPr>
            <p:custDataLst>
              <p:tags r:id="rId16"/>
            </p:custDataLst>
          </p:nvPr>
        </p:nvSpPr>
        <p:spPr>
          <a:xfrm>
            <a:off x="2916936" y="3703320"/>
            <a:ext cx="246888" cy="0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9" name="Shape 15"/>
          <p:cNvSpPr/>
          <p:nvPr>
            <p:custDataLst>
              <p:tags r:id="rId17"/>
            </p:custDataLst>
          </p:nvPr>
        </p:nvSpPr>
        <p:spPr>
          <a:xfrm>
            <a:off x="3200400" y="2537460"/>
            <a:ext cx="2011680" cy="914400"/>
          </a:xfrm>
          <a:prstGeom prst="roundRect">
            <a:avLst>
              <a:gd name="adj" fmla="val 9000"/>
            </a:avLst>
          </a:prstGeom>
          <a:solidFill>
            <a:srgbClr val="0F3140"/>
          </a:solidFill>
          <a:effectLst>
            <a:outerShdw blurRad="76200" dist="25400" dir="5400000" algn="bl" rotWithShape="0">
              <a:srgbClr val="1B2B32">
                <a:alpha val="18000"/>
              </a:srgbClr>
            </a:outerShdw>
          </a:effectLst>
        </p:spPr>
      </p:sp>
      <p:sp>
        <p:nvSpPr>
          <p:cNvPr id="20" name="Shape 16"/>
          <p:cNvSpPr/>
          <p:nvPr>
            <p:custDataLst>
              <p:tags r:id="rId18"/>
            </p:custDataLst>
          </p:nvPr>
        </p:nvSpPr>
        <p:spPr>
          <a:xfrm>
            <a:off x="3319272" y="265633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FFFFFF">
              <a:alpha val="25000"/>
            </a:srgbClr>
          </a:solidFill>
        </p:spPr>
      </p:sp>
      <p:pic>
        <p:nvPicPr>
          <p:cNvPr id="21" name="Image 2" descr="icons/upload.png"/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20"/>
          <a:stretch>
            <a:fillRect/>
          </a:stretch>
        </p:blipFill>
        <p:spPr>
          <a:xfrm>
            <a:off x="3392424" y="2729484"/>
            <a:ext cx="219456" cy="219456"/>
          </a:xfrm>
          <a:prstGeom prst="rect">
            <a:avLst/>
          </a:prstGeom>
        </p:spPr>
      </p:pic>
      <p:sp>
        <p:nvSpPr>
          <p:cNvPr id="22" name="Text 17"/>
          <p:cNvSpPr/>
          <p:nvPr>
            <p:custDataLst>
              <p:tags r:id="rId21"/>
            </p:custDataLst>
          </p:nvPr>
        </p:nvSpPr>
        <p:spPr>
          <a:xfrm>
            <a:off x="3767328" y="2628900"/>
            <a:ext cx="1316736" cy="29260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Ingestion Layer</a:t>
            </a:r>
            <a:endParaRPr lang="en-US" sz="1150" dirty="0"/>
          </a:p>
        </p:txBody>
      </p:sp>
      <p:sp>
        <p:nvSpPr>
          <p:cNvPr id="23" name="Text 18"/>
          <p:cNvSpPr/>
          <p:nvPr>
            <p:custDataLst>
              <p:tags r:id="rId22"/>
            </p:custDataLst>
          </p:nvPr>
        </p:nvSpPr>
        <p:spPr>
          <a:xfrm>
            <a:off x="3346704" y="3067812"/>
            <a:ext cx="1719072" cy="3291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FC3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Parse &amp; dedupe · SQLite</a:t>
            </a:r>
            <a:endParaRPr lang="en-US" sz="850" dirty="0"/>
          </a:p>
        </p:txBody>
      </p:sp>
      <p:sp>
        <p:nvSpPr>
          <p:cNvPr id="24" name="Shape 19"/>
          <p:cNvSpPr/>
          <p:nvPr>
            <p:custDataLst>
              <p:tags r:id="rId23"/>
            </p:custDataLst>
          </p:nvPr>
        </p:nvSpPr>
        <p:spPr>
          <a:xfrm>
            <a:off x="5248656" y="2994660"/>
            <a:ext cx="246888" cy="0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25" name="Shape 20"/>
          <p:cNvSpPr/>
          <p:nvPr>
            <p:custDataLst>
              <p:tags r:id="rId24"/>
            </p:custDataLst>
          </p:nvPr>
        </p:nvSpPr>
        <p:spPr>
          <a:xfrm>
            <a:off x="5532120" y="2537460"/>
            <a:ext cx="2011680" cy="914400"/>
          </a:xfrm>
          <a:prstGeom prst="roundRect">
            <a:avLst>
              <a:gd name="adj" fmla="val 9000"/>
            </a:avLst>
          </a:prstGeom>
          <a:solidFill>
            <a:srgbClr val="0E7C86"/>
          </a:solidFill>
          <a:effectLst>
            <a:outerShdw blurRad="76200" dist="25400" dir="5400000" algn="bl" rotWithShape="0">
              <a:srgbClr val="1B2B32">
                <a:alpha val="18000"/>
              </a:srgbClr>
            </a:outerShdw>
          </a:effectLst>
        </p:spPr>
      </p:sp>
      <p:sp>
        <p:nvSpPr>
          <p:cNvPr id="26" name="Shape 21"/>
          <p:cNvSpPr/>
          <p:nvPr>
            <p:custDataLst>
              <p:tags r:id="rId25"/>
            </p:custDataLst>
          </p:nvPr>
        </p:nvSpPr>
        <p:spPr>
          <a:xfrm>
            <a:off x="5650992" y="265633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FFFFFF">
              <a:alpha val="25000"/>
            </a:srgbClr>
          </a:solidFill>
        </p:spPr>
      </p:sp>
      <p:pic>
        <p:nvPicPr>
          <p:cNvPr id="27" name="Image 3" descr="icons/chart.png"/>
          <p:cNvPicPr>
            <a:picLocks noChangeAspect="1"/>
          </p:cNvPicPr>
          <p:nvPr>
            <p:custDataLst>
              <p:tags r:id="rId26"/>
            </p:custDataLst>
          </p:nvPr>
        </p:nvPicPr>
        <p:blipFill>
          <a:blip r:embed="rId27"/>
          <a:stretch>
            <a:fillRect/>
          </a:stretch>
        </p:blipFill>
        <p:spPr>
          <a:xfrm>
            <a:off x="5724144" y="2729484"/>
            <a:ext cx="219456" cy="219456"/>
          </a:xfrm>
          <a:prstGeom prst="rect">
            <a:avLst/>
          </a:prstGeom>
        </p:spPr>
      </p:pic>
      <p:sp>
        <p:nvSpPr>
          <p:cNvPr id="28" name="Text 22"/>
          <p:cNvSpPr/>
          <p:nvPr>
            <p:custDataLst>
              <p:tags r:id="rId28"/>
            </p:custDataLst>
          </p:nvPr>
        </p:nvSpPr>
        <p:spPr>
          <a:xfrm>
            <a:off x="6099048" y="2628900"/>
            <a:ext cx="1316736" cy="29260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ML Risk Model</a:t>
            </a:r>
            <a:endParaRPr lang="en-US" sz="1150" dirty="0"/>
          </a:p>
        </p:txBody>
      </p:sp>
      <p:sp>
        <p:nvSpPr>
          <p:cNvPr id="29" name="Text 23"/>
          <p:cNvSpPr/>
          <p:nvPr>
            <p:custDataLst>
              <p:tags r:id="rId29"/>
            </p:custDataLst>
          </p:nvPr>
        </p:nvSpPr>
        <p:spPr>
          <a:xfrm>
            <a:off x="5678424" y="3067812"/>
            <a:ext cx="1719072" cy="3291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FC3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predict → clip 0–100</a:t>
            </a:r>
            <a:endParaRPr lang="en-US" sz="850" dirty="0"/>
          </a:p>
        </p:txBody>
      </p:sp>
      <p:sp>
        <p:nvSpPr>
          <p:cNvPr id="30" name="Shape 24"/>
          <p:cNvSpPr/>
          <p:nvPr>
            <p:custDataLst>
              <p:tags r:id="rId30"/>
            </p:custDataLst>
          </p:nvPr>
        </p:nvSpPr>
        <p:spPr>
          <a:xfrm>
            <a:off x="7580376" y="2994660"/>
            <a:ext cx="246888" cy="0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31" name="Shape 25"/>
          <p:cNvSpPr/>
          <p:nvPr>
            <p:custDataLst>
              <p:tags r:id="rId31"/>
            </p:custDataLst>
          </p:nvPr>
        </p:nvSpPr>
        <p:spPr>
          <a:xfrm>
            <a:off x="7863840" y="2537460"/>
            <a:ext cx="2011680" cy="914400"/>
          </a:xfrm>
          <a:prstGeom prst="roundRect">
            <a:avLst>
              <a:gd name="adj" fmla="val 9000"/>
            </a:avLst>
          </a:prstGeom>
          <a:solidFill>
            <a:srgbClr val="17A2AE"/>
          </a:solidFill>
          <a:effectLst>
            <a:outerShdw blurRad="76200" dist="25400" dir="5400000" algn="bl" rotWithShape="0">
              <a:srgbClr val="1B2B32">
                <a:alpha val="18000"/>
              </a:srgbClr>
            </a:outerShdw>
          </a:effectLst>
        </p:spPr>
      </p:sp>
      <p:sp>
        <p:nvSpPr>
          <p:cNvPr id="32" name="Shape 26"/>
          <p:cNvSpPr/>
          <p:nvPr>
            <p:custDataLst>
              <p:tags r:id="rId32"/>
            </p:custDataLst>
          </p:nvPr>
        </p:nvSpPr>
        <p:spPr>
          <a:xfrm>
            <a:off x="7982712" y="265633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FFFFFF">
              <a:alpha val="25000"/>
            </a:srgbClr>
          </a:solidFill>
        </p:spPr>
      </p:sp>
      <p:pic>
        <p:nvPicPr>
          <p:cNvPr id="33" name="Image 4" descr="icons/shield.png"/>
          <p:cNvPicPr>
            <a:picLocks noChangeAspect="1"/>
          </p:cNvPicPr>
          <p:nvPr>
            <p:custDataLst>
              <p:tags r:id="rId33"/>
            </p:custDataLst>
          </p:nvPr>
        </p:nvPicPr>
        <p:blipFill>
          <a:blip r:embed="rId34"/>
          <a:stretch>
            <a:fillRect/>
          </a:stretch>
        </p:blipFill>
        <p:spPr>
          <a:xfrm>
            <a:off x="8055864" y="2729484"/>
            <a:ext cx="219456" cy="219456"/>
          </a:xfrm>
          <a:prstGeom prst="rect">
            <a:avLst/>
          </a:prstGeom>
        </p:spPr>
      </p:pic>
      <p:sp>
        <p:nvSpPr>
          <p:cNvPr id="34" name="Text 27"/>
          <p:cNvSpPr/>
          <p:nvPr>
            <p:custDataLst>
              <p:tags r:id="rId35"/>
            </p:custDataLst>
          </p:nvPr>
        </p:nvSpPr>
        <p:spPr>
          <a:xfrm>
            <a:off x="8430768" y="2628900"/>
            <a:ext cx="1316736" cy="29260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Signal Rule Engine</a:t>
            </a:r>
            <a:endParaRPr lang="en-US" sz="1150" dirty="0"/>
          </a:p>
        </p:txBody>
      </p:sp>
      <p:sp>
        <p:nvSpPr>
          <p:cNvPr id="35" name="Text 28"/>
          <p:cNvSpPr/>
          <p:nvPr>
            <p:custDataLst>
              <p:tags r:id="rId36"/>
            </p:custDataLst>
          </p:nvPr>
        </p:nvSpPr>
        <p:spPr>
          <a:xfrm>
            <a:off x="8010144" y="3067812"/>
            <a:ext cx="1719072" cy="3291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FC3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Deterministic flags</a:t>
            </a:r>
            <a:endParaRPr lang="en-US" sz="850" dirty="0"/>
          </a:p>
        </p:txBody>
      </p:sp>
      <p:sp>
        <p:nvSpPr>
          <p:cNvPr id="36" name="Shape 29"/>
          <p:cNvSpPr/>
          <p:nvPr>
            <p:custDataLst>
              <p:tags r:id="rId37"/>
            </p:custDataLst>
          </p:nvPr>
        </p:nvSpPr>
        <p:spPr>
          <a:xfrm>
            <a:off x="8869680" y="3506724"/>
            <a:ext cx="0" cy="384048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37" name="Shape 30"/>
          <p:cNvSpPr/>
          <p:nvPr>
            <p:custDataLst>
              <p:tags r:id="rId38"/>
            </p:custDataLst>
          </p:nvPr>
        </p:nvSpPr>
        <p:spPr>
          <a:xfrm>
            <a:off x="7269480" y="3890772"/>
            <a:ext cx="3200400" cy="914400"/>
          </a:xfrm>
          <a:prstGeom prst="roundRect">
            <a:avLst>
              <a:gd name="adj" fmla="val 9000"/>
            </a:avLst>
          </a:prstGeom>
          <a:solidFill>
            <a:srgbClr val="0B1E27"/>
          </a:solidFill>
          <a:effectLst>
            <a:outerShdw blurRad="76200" dist="25400" dir="5400000" algn="bl" rotWithShape="0">
              <a:srgbClr val="1B2B32">
                <a:alpha val="18000"/>
              </a:srgbClr>
            </a:outerShdw>
          </a:effectLst>
        </p:spPr>
      </p:sp>
      <p:sp>
        <p:nvSpPr>
          <p:cNvPr id="38" name="Shape 31"/>
          <p:cNvSpPr/>
          <p:nvPr>
            <p:custDataLst>
              <p:tags r:id="rId39"/>
            </p:custDataLst>
          </p:nvPr>
        </p:nvSpPr>
        <p:spPr>
          <a:xfrm>
            <a:off x="7388352" y="4009644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FFFFFF">
              <a:alpha val="25000"/>
            </a:srgbClr>
          </a:solidFill>
        </p:spPr>
      </p:sp>
      <p:pic>
        <p:nvPicPr>
          <p:cNvPr id="39" name="Image 5" descr="icons/robot.png"/>
          <p:cNvPicPr>
            <a:picLocks noChangeAspect="1"/>
          </p:cNvPicPr>
          <p:nvPr>
            <p:custDataLst>
              <p:tags r:id="rId40"/>
            </p:custDataLst>
          </p:nvPr>
        </p:nvPicPr>
        <p:blipFill>
          <a:blip r:embed="rId41"/>
          <a:stretch>
            <a:fillRect/>
          </a:stretch>
        </p:blipFill>
        <p:spPr>
          <a:xfrm>
            <a:off x="7461504" y="4082796"/>
            <a:ext cx="219456" cy="219456"/>
          </a:xfrm>
          <a:prstGeom prst="rect">
            <a:avLst/>
          </a:prstGeom>
        </p:spPr>
      </p:pic>
      <p:sp>
        <p:nvSpPr>
          <p:cNvPr id="40" name="Text 32"/>
          <p:cNvSpPr/>
          <p:nvPr>
            <p:custDataLst>
              <p:tags r:id="rId42"/>
            </p:custDataLst>
          </p:nvPr>
        </p:nvSpPr>
        <p:spPr>
          <a:xfrm>
            <a:off x="7836408" y="3982212"/>
            <a:ext cx="2505456" cy="29260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LLM Rationale</a:t>
            </a:r>
            <a:endParaRPr lang="en-US" sz="1150" dirty="0"/>
          </a:p>
        </p:txBody>
      </p:sp>
      <p:sp>
        <p:nvSpPr>
          <p:cNvPr id="41" name="Text 33"/>
          <p:cNvSpPr/>
          <p:nvPr>
            <p:custDataLst>
              <p:tags r:id="rId43"/>
            </p:custDataLst>
          </p:nvPr>
        </p:nvSpPr>
        <p:spPr>
          <a:xfrm>
            <a:off x="7415784" y="4421124"/>
            <a:ext cx="2907792" cy="3291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850" dirty="0">
                <a:solidFill>
                  <a:srgbClr val="9FC3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LangChain + Groq · cached per customer</a:t>
            </a:r>
            <a:endParaRPr lang="en-US" sz="850" dirty="0"/>
          </a:p>
        </p:txBody>
      </p:sp>
      <p:sp>
        <p:nvSpPr>
          <p:cNvPr id="42" name="Shape 34"/>
          <p:cNvSpPr/>
          <p:nvPr/>
        </p:nvSpPr>
        <p:spPr>
          <a:xfrm>
            <a:off x="8869680" y="4860036"/>
            <a:ext cx="0" cy="384048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43" name="Shape 35"/>
          <p:cNvSpPr/>
          <p:nvPr/>
        </p:nvSpPr>
        <p:spPr>
          <a:xfrm>
            <a:off x="548640" y="5244084"/>
            <a:ext cx="10515600" cy="777240"/>
          </a:xfrm>
          <a:prstGeom prst="roundRect">
            <a:avLst>
              <a:gd name="adj" fmla="val 10588"/>
            </a:avLst>
          </a:prstGeom>
          <a:solidFill>
            <a:srgbClr val="3FD6BE"/>
          </a:solidFill>
          <a:effectLst>
            <a:outerShdw blurRad="76200" dist="25400" dir="5400000" algn="bl" rotWithShape="0">
              <a:srgbClr val="1B2B32">
                <a:alpha val="18000"/>
              </a:srgbClr>
            </a:outerShdw>
          </a:effectLst>
        </p:spPr>
      </p:sp>
      <p:sp>
        <p:nvSpPr>
          <p:cNvPr id="44" name="Shape 36"/>
          <p:cNvSpPr/>
          <p:nvPr/>
        </p:nvSpPr>
        <p:spPr>
          <a:xfrm>
            <a:off x="713232" y="5390388"/>
            <a:ext cx="484632" cy="484632"/>
          </a:xfrm>
          <a:prstGeom prst="roundRect">
            <a:avLst>
              <a:gd name="adj" fmla="val 28000"/>
            </a:avLst>
          </a:prstGeom>
          <a:solidFill>
            <a:srgbClr val="FFFFFF">
              <a:alpha val="40000"/>
            </a:srgbClr>
          </a:solidFill>
        </p:spPr>
      </p:sp>
      <p:pic>
        <p:nvPicPr>
          <p:cNvPr id="45" name="Image 6" descr="icons/layer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804672" y="5481828"/>
            <a:ext cx="301752" cy="301752"/>
          </a:xfrm>
          <a:prstGeom prst="rect">
            <a:avLst/>
          </a:prstGeom>
        </p:spPr>
      </p:pic>
      <p:sp>
        <p:nvSpPr>
          <p:cNvPr id="46" name="Text 37"/>
          <p:cNvSpPr/>
          <p:nvPr/>
        </p:nvSpPr>
        <p:spPr>
          <a:xfrm>
            <a:off x="1371600" y="5335524"/>
            <a:ext cx="45720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1E2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Operations Dashboard</a:t>
            </a:r>
            <a:endParaRPr lang="en-US" sz="1350" dirty="0"/>
          </a:p>
        </p:txBody>
      </p:sp>
      <p:sp>
        <p:nvSpPr>
          <p:cNvPr id="47" name="Text 38"/>
          <p:cNvSpPr/>
          <p:nvPr/>
        </p:nvSpPr>
        <p:spPr>
          <a:xfrm>
            <a:off x="1371600" y="5646420"/>
            <a:ext cx="94183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B1E2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Overview  ·  Customer Signals  ·  Customer Detail  ·  Model Insights  ·  Data / Upload</a:t>
            </a:r>
            <a:endParaRPr lang="en-US" sz="1050" dirty="0"/>
          </a:p>
        </p:txBody>
      </p:sp>
      <p:sp>
        <p:nvSpPr>
          <p:cNvPr id="48" name="Text 3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Intelligent Customer Signal Detector</a:t>
            </a:r>
            <a:endParaRPr lang="en-US" sz="1000" dirty="0"/>
          </a:p>
        </p:txBody>
      </p:sp>
      <p:sp>
        <p:nvSpPr>
          <p:cNvPr id="49" name="Text 40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 / 5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4572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SLIDE 3 OF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E27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Implementation Highlights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78992"/>
            <a:ext cx="10515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technical decisions across the ML pipeline, the reasoning layer, and the operational UI.</a:t>
            </a:r>
            <a:endParaRPr lang="en-US" sz="1250" dirty="0"/>
          </a:p>
        </p:txBody>
      </p:sp>
      <p:sp>
        <p:nvSpPr>
          <p:cNvPr id="5" name="Shape 3"/>
          <p:cNvSpPr/>
          <p:nvPr>
            <p:custDataLst>
              <p:tags r:id="rId1"/>
            </p:custDataLst>
          </p:nvPr>
        </p:nvSpPr>
        <p:spPr>
          <a:xfrm>
            <a:off x="548640" y="1691640"/>
            <a:ext cx="33375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  <a:effectLst>
            <a:outerShdw blurRad="63500" dist="25400" dir="5400000" algn="bl" rotWithShape="0">
              <a:srgbClr val="1B2B32">
                <a:alpha val="10000"/>
              </a:srgbClr>
            </a:outerShdw>
          </a:effectLst>
        </p:spPr>
      </p:sp>
      <p:sp>
        <p:nvSpPr>
          <p:cNvPr id="6" name="Shape 4"/>
          <p:cNvSpPr/>
          <p:nvPr>
            <p:custDataLst>
              <p:tags r:id="rId2"/>
            </p:custDataLst>
          </p:nvPr>
        </p:nvSpPr>
        <p:spPr>
          <a:xfrm>
            <a:off x="749808" y="189280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7" name="Image 0" descr="icons/chart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841248" y="1984248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>
            <p:custDataLst>
              <p:tags r:id="rId5"/>
            </p:custDataLst>
          </p:nvPr>
        </p:nvSpPr>
        <p:spPr>
          <a:xfrm>
            <a:off x="1371600" y="1911096"/>
            <a:ext cx="233172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1E2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Grounded ML Scoring</a:t>
            </a:r>
            <a:endParaRPr lang="en-US" sz="1350" dirty="0"/>
          </a:p>
        </p:txBody>
      </p:sp>
      <p:sp>
        <p:nvSpPr>
          <p:cNvPr id="9" name="Text 6"/>
          <p:cNvSpPr/>
          <p:nvPr>
            <p:custDataLst>
              <p:tags r:id="rId6"/>
            </p:custDataLst>
          </p:nvPr>
        </p:nvSpPr>
        <p:spPr>
          <a:xfrm>
            <a:off x="749808" y="2468880"/>
            <a:ext cx="2935224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trained regression model predicts a 0–100 churn score from 57 structured fields. Risk bands (High ≥70 / Attention 40–69 / Low &lt;40) are fixed thresholds, documented once — never changed mid-demo.</a:t>
            </a:r>
            <a:endParaRPr lang="en-US" sz="1050" dirty="0"/>
          </a:p>
        </p:txBody>
      </p:sp>
      <p:sp>
        <p:nvSpPr>
          <p:cNvPr id="10" name="Shape 7"/>
          <p:cNvSpPr/>
          <p:nvPr>
            <p:custDataLst>
              <p:tags r:id="rId7"/>
            </p:custDataLst>
          </p:nvPr>
        </p:nvSpPr>
        <p:spPr>
          <a:xfrm>
            <a:off x="4142232" y="1691640"/>
            <a:ext cx="33375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  <a:effectLst>
            <a:outerShdw blurRad="63500" dist="25400" dir="5400000" algn="bl" rotWithShape="0">
              <a:srgbClr val="1B2B32">
                <a:alpha val="10000"/>
              </a:srgbClr>
            </a:outerShdw>
          </a:effectLst>
        </p:spPr>
      </p:sp>
      <p:sp>
        <p:nvSpPr>
          <p:cNvPr id="11" name="Shape 8"/>
          <p:cNvSpPr/>
          <p:nvPr>
            <p:custDataLst>
              <p:tags r:id="rId8"/>
            </p:custDataLst>
          </p:nvPr>
        </p:nvSpPr>
        <p:spPr>
          <a:xfrm>
            <a:off x="4343400" y="189280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12" name="Image 1" descr="icons/shield.png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4434840" y="1984248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>
            <p:custDataLst>
              <p:tags r:id="rId11"/>
            </p:custDataLst>
          </p:nvPr>
        </p:nvSpPr>
        <p:spPr>
          <a:xfrm>
            <a:off x="4965192" y="1911096"/>
            <a:ext cx="233172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1E2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Rule Engine Before LLM</a:t>
            </a:r>
            <a:endParaRPr lang="en-US" sz="1350" dirty="0"/>
          </a:p>
        </p:txBody>
      </p:sp>
      <p:sp>
        <p:nvSpPr>
          <p:cNvPr id="14" name="Text 10"/>
          <p:cNvSpPr/>
          <p:nvPr>
            <p:custDataLst>
              <p:tags r:id="rId12"/>
            </p:custDataLst>
          </p:nvPr>
        </p:nvSpPr>
        <p:spPr>
          <a:xfrm>
            <a:off x="4343400" y="2468880"/>
            <a:ext cx="2935224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deterministic rule layer flags concerns first (low satisfaction, open issues, negative sentiment). The LLM explains those flags in plain language — it never invents its own signals.</a:t>
            </a:r>
            <a:endParaRPr lang="en-US" sz="1050" dirty="0"/>
          </a:p>
        </p:txBody>
      </p:sp>
      <p:sp>
        <p:nvSpPr>
          <p:cNvPr id="15" name="Shape 11"/>
          <p:cNvSpPr/>
          <p:nvPr>
            <p:custDataLst>
              <p:tags r:id="rId13"/>
            </p:custDataLst>
          </p:nvPr>
        </p:nvSpPr>
        <p:spPr>
          <a:xfrm>
            <a:off x="7735824" y="1691640"/>
            <a:ext cx="33375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  <a:effectLst>
            <a:outerShdw blurRad="63500" dist="25400" dir="5400000" algn="bl" rotWithShape="0">
              <a:srgbClr val="1B2B32">
                <a:alpha val="10000"/>
              </a:srgbClr>
            </a:outerShdw>
          </a:effectLst>
        </p:spPr>
      </p:sp>
      <p:sp>
        <p:nvSpPr>
          <p:cNvPr id="16" name="Shape 12"/>
          <p:cNvSpPr/>
          <p:nvPr>
            <p:custDataLst>
              <p:tags r:id="rId14"/>
            </p:custDataLst>
          </p:nvPr>
        </p:nvSpPr>
        <p:spPr>
          <a:xfrm>
            <a:off x="7936992" y="189280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17" name="Image 2" descr="icons/robot.png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8028432" y="1984248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>
            <p:custDataLst>
              <p:tags r:id="rId17"/>
            </p:custDataLst>
          </p:nvPr>
        </p:nvSpPr>
        <p:spPr>
          <a:xfrm>
            <a:off x="8558784" y="1911096"/>
            <a:ext cx="233172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1E2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Cached, On-Demand Rationale</a:t>
            </a:r>
            <a:endParaRPr lang="en-US" sz="1350" dirty="0"/>
          </a:p>
        </p:txBody>
      </p:sp>
      <p:sp>
        <p:nvSpPr>
          <p:cNvPr id="19" name="Text 14"/>
          <p:cNvSpPr/>
          <p:nvPr>
            <p:custDataLst>
              <p:tags r:id="rId18"/>
            </p:custDataLst>
          </p:nvPr>
        </p:nvSpPr>
        <p:spPr>
          <a:xfrm>
            <a:off x="7936992" y="2468880"/>
            <a:ext cx="2935224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LangChain + Groq generate the “Why Flagged” rationale only when a customer card is opened, then cache it — first open takes seconds, every reopen is instant.</a:t>
            </a:r>
            <a:endParaRPr lang="en-US" sz="1050" dirty="0"/>
          </a:p>
        </p:txBody>
      </p:sp>
      <p:sp>
        <p:nvSpPr>
          <p:cNvPr id="20" name="Shape 15"/>
          <p:cNvSpPr/>
          <p:nvPr>
            <p:custDataLst>
              <p:tags r:id="rId19"/>
            </p:custDataLst>
          </p:nvPr>
        </p:nvSpPr>
        <p:spPr>
          <a:xfrm>
            <a:off x="548640" y="3913632"/>
            <a:ext cx="33375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  <a:effectLst>
            <a:outerShdw blurRad="63500" dist="25400" dir="5400000" algn="bl" rotWithShape="0">
              <a:srgbClr val="1B2B32">
                <a:alpha val="10000"/>
              </a:srgbClr>
            </a:outerShdw>
          </a:effectLst>
        </p:spPr>
      </p:sp>
      <p:sp>
        <p:nvSpPr>
          <p:cNvPr id="21" name="Shape 16"/>
          <p:cNvSpPr/>
          <p:nvPr>
            <p:custDataLst>
              <p:tags r:id="rId20"/>
            </p:custDataLst>
          </p:nvPr>
        </p:nvSpPr>
        <p:spPr>
          <a:xfrm>
            <a:off x="749808" y="411480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22" name="Image 3" descr="icons/filter.png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22"/>
          <a:stretch>
            <a:fillRect/>
          </a:stretch>
        </p:blipFill>
        <p:spPr>
          <a:xfrm>
            <a:off x="841248" y="4206240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>
            <p:custDataLst>
              <p:tags r:id="rId23"/>
            </p:custDataLst>
          </p:nvPr>
        </p:nvSpPr>
        <p:spPr>
          <a:xfrm>
            <a:off x="1371600" y="4133088"/>
            <a:ext cx="233172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1E2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Operational Table + Filters</a:t>
            </a:r>
            <a:endParaRPr lang="en-US" sz="1350" dirty="0"/>
          </a:p>
        </p:txBody>
      </p:sp>
      <p:sp>
        <p:nvSpPr>
          <p:cNvPr id="24" name="Text 18"/>
          <p:cNvSpPr/>
          <p:nvPr>
            <p:custDataLst>
              <p:tags r:id="rId24"/>
            </p:custDataLst>
          </p:nvPr>
        </p:nvSpPr>
        <p:spPr>
          <a:xfrm>
            <a:off x="749808" y="4690872"/>
            <a:ext cx="2935224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Search by ID; filter by risk band, sentiment, resolution status, and contract type. Every row is click-through to a full evidence-backed customer profile.</a:t>
            </a:r>
            <a:endParaRPr lang="en-US" sz="1050" dirty="0"/>
          </a:p>
        </p:txBody>
      </p:sp>
      <p:sp>
        <p:nvSpPr>
          <p:cNvPr id="25" name="Shape 19"/>
          <p:cNvSpPr/>
          <p:nvPr>
            <p:custDataLst>
              <p:tags r:id="rId25"/>
            </p:custDataLst>
          </p:nvPr>
        </p:nvSpPr>
        <p:spPr>
          <a:xfrm>
            <a:off x="4142232" y="3913632"/>
            <a:ext cx="33375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  <a:effectLst>
            <a:outerShdw blurRad="63500" dist="25400" dir="5400000" algn="bl" rotWithShape="0">
              <a:srgbClr val="1B2B32">
                <a:alpha val="10000"/>
              </a:srgbClr>
            </a:outerShdw>
          </a:effectLst>
        </p:spPr>
      </p:sp>
      <p:sp>
        <p:nvSpPr>
          <p:cNvPr id="26" name="Shape 20"/>
          <p:cNvSpPr/>
          <p:nvPr>
            <p:custDataLst>
              <p:tags r:id="rId26"/>
            </p:custDataLst>
          </p:nvPr>
        </p:nvSpPr>
        <p:spPr>
          <a:xfrm>
            <a:off x="4343400" y="411480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27" name="Image 4" descr="icons/comment.png"/>
          <p:cNvPicPr>
            <a:picLocks noChangeAspect="1"/>
          </p:cNvPicPr>
          <p:nvPr>
            <p:custDataLst>
              <p:tags r:id="rId27"/>
            </p:custDataLst>
          </p:nvPr>
        </p:nvPicPr>
        <p:blipFill>
          <a:blip r:embed="rId28"/>
          <a:stretch>
            <a:fillRect/>
          </a:stretch>
        </p:blipFill>
        <p:spPr>
          <a:xfrm>
            <a:off x="4434840" y="4206240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/>
          <p:nvPr>
            <p:custDataLst>
              <p:tags r:id="rId29"/>
            </p:custDataLst>
          </p:nvPr>
        </p:nvSpPr>
        <p:spPr>
          <a:xfrm>
            <a:off x="4965192" y="4133088"/>
            <a:ext cx="233172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1E2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Transcript-Aware Detail View</a:t>
            </a:r>
            <a:endParaRPr lang="en-US" sz="1350" dirty="0"/>
          </a:p>
        </p:txBody>
      </p:sp>
      <p:sp>
        <p:nvSpPr>
          <p:cNvPr id="29" name="Text 22"/>
          <p:cNvSpPr/>
          <p:nvPr>
            <p:custDataLst>
              <p:tags r:id="rId30"/>
            </p:custDataLst>
          </p:nvPr>
        </p:nvSpPr>
        <p:spPr>
          <a:xfrm>
            <a:off x="4343400" y="4690872"/>
            <a:ext cx="2935224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Support conversations render as colour-coded chat bubbles beside the model output — evidence and explanation sit next to the source text.</a:t>
            </a:r>
            <a:endParaRPr lang="en-US" sz="1050" dirty="0"/>
          </a:p>
        </p:txBody>
      </p:sp>
      <p:sp>
        <p:nvSpPr>
          <p:cNvPr id="30" name="Shape 23"/>
          <p:cNvSpPr/>
          <p:nvPr>
            <p:custDataLst>
              <p:tags r:id="rId31"/>
            </p:custDataLst>
          </p:nvPr>
        </p:nvSpPr>
        <p:spPr>
          <a:xfrm>
            <a:off x="7735824" y="3913632"/>
            <a:ext cx="33375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  <a:effectLst>
            <a:outerShdw blurRad="63500" dist="25400" dir="5400000" algn="bl" rotWithShape="0">
              <a:srgbClr val="1B2B32">
                <a:alpha val="10000"/>
              </a:srgbClr>
            </a:outerShdw>
          </a:effectLst>
        </p:spPr>
      </p:sp>
      <p:sp>
        <p:nvSpPr>
          <p:cNvPr id="31" name="Shape 24"/>
          <p:cNvSpPr/>
          <p:nvPr>
            <p:custDataLst>
              <p:tags r:id="rId32"/>
            </p:custDataLst>
          </p:nvPr>
        </p:nvSpPr>
        <p:spPr>
          <a:xfrm>
            <a:off x="7936992" y="411480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32" name="Image 5" descr="icons/bolt.png"/>
          <p:cNvPicPr>
            <a:picLocks noChangeAspect="1"/>
          </p:cNvPicPr>
          <p:nvPr>
            <p:custDataLst>
              <p:tags r:id="rId33"/>
            </p:custDataLst>
          </p:nvPr>
        </p:nvPicPr>
        <p:blipFill>
          <a:blip r:embed="rId34"/>
          <a:stretch>
            <a:fillRect/>
          </a:stretch>
        </p:blipFill>
        <p:spPr>
          <a:xfrm>
            <a:off x="8028432" y="4206240"/>
            <a:ext cx="274320" cy="274320"/>
          </a:xfrm>
          <a:prstGeom prst="rect">
            <a:avLst/>
          </a:prstGeom>
        </p:spPr>
      </p:pic>
      <p:sp>
        <p:nvSpPr>
          <p:cNvPr id="33" name="Text 25"/>
          <p:cNvSpPr/>
          <p:nvPr>
            <p:custDataLst>
              <p:tags r:id="rId35"/>
            </p:custDataLst>
          </p:nvPr>
        </p:nvSpPr>
        <p:spPr>
          <a:xfrm>
            <a:off x="8558784" y="4133088"/>
            <a:ext cx="233172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1E2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Resilient by Design</a:t>
            </a:r>
            <a:endParaRPr lang="en-US" sz="1350" dirty="0"/>
          </a:p>
        </p:txBody>
      </p:sp>
      <p:sp>
        <p:nvSpPr>
          <p:cNvPr id="34" name="Text 26"/>
          <p:cNvSpPr/>
          <p:nvPr>
            <p:custDataLst>
              <p:tags r:id="rId36"/>
            </p:custDataLst>
          </p:nvPr>
        </p:nvSpPr>
        <p:spPr>
          <a:xfrm>
            <a:off x="7936992" y="4690872"/>
            <a:ext cx="2935224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 the Groq call fails or times out, the UI falls back to a template rationale built from the same rule flags — the dashboard never shows a broken screen.</a:t>
            </a:r>
            <a:endParaRPr lang="en-US" sz="1050" dirty="0"/>
          </a:p>
        </p:txBody>
      </p:sp>
      <p:sp>
        <p:nvSpPr>
          <p:cNvPr id="35" name="Text 27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Intelligent Customer Signal Detector</a:t>
            </a:r>
            <a:endParaRPr lang="en-US" sz="1000" dirty="0"/>
          </a:p>
        </p:txBody>
      </p:sp>
      <p:sp>
        <p:nvSpPr>
          <p:cNvPr id="36" name="Text 28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 / 5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560320" y="-2286000"/>
            <a:ext cx="6400800" cy="6400800"/>
          </a:xfrm>
          <a:prstGeom prst="ellipse">
            <a:avLst/>
          </a:prstGeom>
          <a:solidFill>
            <a:srgbClr val="0E7C86">
              <a:alpha val="20000"/>
            </a:srgbClr>
          </a:solidFill>
        </p:spPr>
      </p:sp>
      <p:sp>
        <p:nvSpPr>
          <p:cNvPr id="3" name="Text 1"/>
          <p:cNvSpPr/>
          <p:nvPr/>
        </p:nvSpPr>
        <p:spPr>
          <a:xfrm>
            <a:off x="548640" y="365760"/>
            <a:ext cx="4572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D6B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SLIDE 4 OF 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91440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Challenges &amp; Learnings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170432"/>
            <a:ext cx="10515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C3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Trade-offs made under a 3-day build window, and what they taught.</a:t>
            </a:r>
            <a:endParaRPr lang="en-US" sz="1250" dirty="0"/>
          </a:p>
        </p:txBody>
      </p:sp>
      <p:sp>
        <p:nvSpPr>
          <p:cNvPr id="6" name="Shape 4"/>
          <p:cNvSpPr/>
          <p:nvPr>
            <p:custDataLst>
              <p:tags r:id="rId1"/>
            </p:custDataLst>
          </p:nvPr>
        </p:nvSpPr>
        <p:spPr>
          <a:xfrm>
            <a:off x="548640" y="1828800"/>
            <a:ext cx="5120640" cy="2148840"/>
          </a:xfrm>
          <a:prstGeom prst="roundRect">
            <a:avLst>
              <a:gd name="adj" fmla="val 4255"/>
            </a:avLst>
          </a:prstGeom>
          <a:solidFill>
            <a:srgbClr val="112B36"/>
          </a:solidFill>
          <a:ln w="9525">
            <a:solidFill>
              <a:srgbClr val="0E7C86"/>
            </a:solidFill>
            <a:prstDash val="solid"/>
          </a:ln>
        </p:spPr>
      </p:sp>
      <p:sp>
        <p:nvSpPr>
          <p:cNvPr id="7" name="Shape 5"/>
          <p:cNvSpPr/>
          <p:nvPr>
            <p:custDataLst>
              <p:tags r:id="rId2"/>
            </p:custDataLst>
          </p:nvPr>
        </p:nvSpPr>
        <p:spPr>
          <a:xfrm>
            <a:off x="768096" y="2048256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8" name="Image 0" descr="icons/warn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859536" y="2139696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>
            <p:custDataLst>
              <p:tags r:id="rId5"/>
            </p:custDataLst>
          </p:nvPr>
        </p:nvSpPr>
        <p:spPr>
          <a:xfrm>
            <a:off x="1408176" y="2066544"/>
            <a:ext cx="4069080" cy="42062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FD6B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Explanation vs. hallucination</a:t>
            </a:r>
            <a:endParaRPr lang="en-US" sz="1350" dirty="0"/>
          </a:p>
        </p:txBody>
      </p:sp>
      <p:sp>
        <p:nvSpPr>
          <p:cNvPr id="10" name="Text 7"/>
          <p:cNvSpPr/>
          <p:nvPr>
            <p:custDataLst>
              <p:tags r:id="rId6"/>
            </p:custDataLst>
          </p:nvPr>
        </p:nvSpPr>
        <p:spPr>
          <a:xfrm>
            <a:off x="768096" y="2670048"/>
            <a:ext cx="4681728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 LLM asked to “explain risk” on its own tends to invent plausible-sounding but ungrounded reasons. Fixing this required moving signal detection into a deterministic rule layer and restricting the LLM to explaining only what that layer already found.</a:t>
            </a:r>
            <a:endParaRPr lang="en-US" sz="1100" dirty="0"/>
          </a:p>
        </p:txBody>
      </p:sp>
      <p:sp>
        <p:nvSpPr>
          <p:cNvPr id="11" name="Shape 8"/>
          <p:cNvSpPr/>
          <p:nvPr>
            <p:custDataLst>
              <p:tags r:id="rId7"/>
            </p:custDataLst>
          </p:nvPr>
        </p:nvSpPr>
        <p:spPr>
          <a:xfrm>
            <a:off x="6126480" y="1828800"/>
            <a:ext cx="5120640" cy="2148840"/>
          </a:xfrm>
          <a:prstGeom prst="roundRect">
            <a:avLst>
              <a:gd name="adj" fmla="val 4255"/>
            </a:avLst>
          </a:prstGeom>
          <a:solidFill>
            <a:srgbClr val="112B36"/>
          </a:solidFill>
          <a:ln w="9525">
            <a:solidFill>
              <a:srgbClr val="0E7C86"/>
            </a:solidFill>
            <a:prstDash val="solid"/>
          </a:ln>
        </p:spPr>
        <p:txBody>
          <a:bodyPr/>
          <a:p>
            <a:endParaRPr lang="en-GB" altLang="en-US"/>
          </a:p>
        </p:txBody>
      </p:sp>
      <p:sp>
        <p:nvSpPr>
          <p:cNvPr id="12" name="Shape 9"/>
          <p:cNvSpPr/>
          <p:nvPr>
            <p:custDataLst>
              <p:tags r:id="rId8"/>
            </p:custDataLst>
          </p:nvPr>
        </p:nvSpPr>
        <p:spPr>
          <a:xfrm>
            <a:off x="6345936" y="2048256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13" name="Image 1" descr="icons/bolt.png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6437376" y="2139696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>
            <p:custDataLst>
              <p:tags r:id="rId11"/>
            </p:custDataLst>
          </p:nvPr>
        </p:nvSpPr>
        <p:spPr>
          <a:xfrm>
            <a:off x="6986016" y="2066544"/>
            <a:ext cx="4069080" cy="42062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FD6B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API cost vs. responsiveness</a:t>
            </a:r>
            <a:endParaRPr lang="en-US" sz="1350" dirty="0"/>
          </a:p>
        </p:txBody>
      </p:sp>
      <p:sp>
        <p:nvSpPr>
          <p:cNvPr id="15" name="Text 11"/>
          <p:cNvSpPr/>
          <p:nvPr>
            <p:custDataLst>
              <p:tags r:id="rId12"/>
            </p:custDataLst>
          </p:nvPr>
        </p:nvSpPr>
        <p:spPr>
          <a:xfrm>
            <a:off x="6345936" y="2670048"/>
            <a:ext cx="4681728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Generating an LLM rationale for all 200 customers up front would burn free-tier quota and slow the demo. Switching to on-demand generation with per-customer caching solved both — fast “Process” step, instant repeat views.</a:t>
            </a:r>
            <a:endParaRPr lang="en-US" sz="1100" dirty="0"/>
          </a:p>
        </p:txBody>
      </p:sp>
      <p:sp>
        <p:nvSpPr>
          <p:cNvPr id="16" name="Shape 12"/>
          <p:cNvSpPr/>
          <p:nvPr>
            <p:custDataLst>
              <p:tags r:id="rId13"/>
            </p:custDataLst>
          </p:nvPr>
        </p:nvSpPr>
        <p:spPr>
          <a:xfrm>
            <a:off x="548640" y="4206240"/>
            <a:ext cx="5120640" cy="2148840"/>
          </a:xfrm>
          <a:prstGeom prst="roundRect">
            <a:avLst>
              <a:gd name="adj" fmla="val 4255"/>
            </a:avLst>
          </a:prstGeom>
          <a:solidFill>
            <a:srgbClr val="112B36"/>
          </a:solidFill>
          <a:ln w="9525">
            <a:solidFill>
              <a:srgbClr val="0E7C86"/>
            </a:solidFill>
            <a:prstDash val="solid"/>
          </a:ln>
        </p:spPr>
      </p:sp>
      <p:sp>
        <p:nvSpPr>
          <p:cNvPr id="17" name="Shape 13"/>
          <p:cNvSpPr/>
          <p:nvPr>
            <p:custDataLst>
              <p:tags r:id="rId14"/>
            </p:custDataLst>
          </p:nvPr>
        </p:nvSpPr>
        <p:spPr>
          <a:xfrm>
            <a:off x="768096" y="4425696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18" name="Image 2" descr="icons/db.png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859536" y="4517136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>
            <p:custDataLst>
              <p:tags r:id="rId17"/>
            </p:custDataLst>
          </p:nvPr>
        </p:nvSpPr>
        <p:spPr>
          <a:xfrm>
            <a:off x="1408176" y="4443984"/>
            <a:ext cx="4069080" cy="42062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FD6B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 columns vs. decision-relevant fields</a:t>
            </a:r>
            <a:endParaRPr lang="en-US" sz="1350" dirty="0"/>
          </a:p>
        </p:txBody>
      </p:sp>
      <p:sp>
        <p:nvSpPr>
          <p:cNvPr id="20" name="Text 15"/>
          <p:cNvSpPr/>
          <p:nvPr>
            <p:custDataLst>
              <p:tags r:id="rId18"/>
            </p:custDataLst>
          </p:nvPr>
        </p:nvSpPr>
        <p:spPr>
          <a:xfrm>
            <a:off x="768096" y="5047488"/>
            <a:ext cx="4681728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The raw CSV schema is wide. Showing all of it by default turned the profile into a database viewer. The fix was a 7-field decision view with a “View all details” disclosure underneath.</a:t>
            </a:r>
            <a:endParaRPr lang="en-US" sz="1100" dirty="0"/>
          </a:p>
        </p:txBody>
      </p:sp>
      <p:sp>
        <p:nvSpPr>
          <p:cNvPr id="21" name="Shape 16"/>
          <p:cNvSpPr/>
          <p:nvPr>
            <p:custDataLst>
              <p:tags r:id="rId19"/>
            </p:custDataLst>
          </p:nvPr>
        </p:nvSpPr>
        <p:spPr>
          <a:xfrm>
            <a:off x="6126480" y="4206240"/>
            <a:ext cx="5120640" cy="2148840"/>
          </a:xfrm>
          <a:prstGeom prst="roundRect">
            <a:avLst>
              <a:gd name="adj" fmla="val 4255"/>
            </a:avLst>
          </a:prstGeom>
          <a:solidFill>
            <a:srgbClr val="112B36"/>
          </a:solidFill>
          <a:ln w="9525">
            <a:solidFill>
              <a:srgbClr val="0E7C86"/>
            </a:solidFill>
            <a:prstDash val="solid"/>
          </a:ln>
        </p:spPr>
      </p:sp>
      <p:sp>
        <p:nvSpPr>
          <p:cNvPr id="22" name="Shape 17"/>
          <p:cNvSpPr/>
          <p:nvPr>
            <p:custDataLst>
              <p:tags r:id="rId20"/>
            </p:custDataLst>
          </p:nvPr>
        </p:nvSpPr>
        <p:spPr>
          <a:xfrm>
            <a:off x="6345936" y="4425696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23" name="Image 3" descr="icons/clipboard.png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22"/>
          <a:stretch>
            <a:fillRect/>
          </a:stretch>
        </p:blipFill>
        <p:spPr>
          <a:xfrm>
            <a:off x="6437376" y="4517136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/>
          <p:nvPr>
            <p:custDataLst>
              <p:tags r:id="rId23"/>
            </p:custDataLst>
          </p:nvPr>
        </p:nvSpPr>
        <p:spPr>
          <a:xfrm>
            <a:off x="6986016" y="4443984"/>
            <a:ext cx="4069080" cy="42062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FD6B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Score vs. probability language</a:t>
            </a:r>
            <a:endParaRPr lang="en-US" sz="1350" dirty="0"/>
          </a:p>
        </p:txBody>
      </p:sp>
      <p:sp>
        <p:nvSpPr>
          <p:cNvPr id="25" name="Text 19"/>
          <p:cNvSpPr/>
          <p:nvPr>
            <p:custDataLst>
              <p:tags r:id="rId24"/>
            </p:custDataLst>
          </p:nvPr>
        </p:nvSpPr>
        <p:spPr>
          <a:xfrm>
            <a:off x="6345936" y="5047488"/>
            <a:ext cx="4681728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The model outputs a regression score, not a calibrated probability. Labelling it “Predicted Risk Score / 100” instead of “Churn Probability %” keeps the UI honest about what the model actually does.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Intelligent Customer Signal Detector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 / 5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4572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SLIDE 5 OF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E27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Demo Summary &amp; Next Steps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00200"/>
            <a:ext cx="47548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E27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What the Prototype Delivers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68680" y="2103120"/>
            <a:ext cx="292608" cy="292608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7" name="Image 0" descr="icons/chec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2157984"/>
            <a:ext cx="182880" cy="182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2066544"/>
            <a:ext cx="448056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B1E2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End-to-end flow: upload data → process → prioritised risk dashboard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68680" y="2761488"/>
            <a:ext cx="292608" cy="292608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10" name="Image 1" descr="icons/chec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2816352"/>
            <a:ext cx="182880" cy="1828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80160" y="2724912"/>
            <a:ext cx="448056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B1E2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Regression-based churn score (0-100) with fixed, documented risk bands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868680" y="3419856"/>
            <a:ext cx="292608" cy="292608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13" name="Image 2" descr="icons/chec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3474720"/>
            <a:ext cx="182880" cy="1828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80160" y="3383280"/>
            <a:ext cx="448056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B1E2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Evidence-grounded “Why Flagged” rationale per customer, via LangChain + Groq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868680" y="4078224"/>
            <a:ext cx="292608" cy="292608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16" name="Image 3" descr="icons/chec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4133088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280160" y="4041648"/>
            <a:ext cx="448056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B1E2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Full customer detail view: profile, signals, transcript, feedback, sentiment</a:t>
            </a:r>
            <a:endParaRPr lang="en-US" sz="1150" dirty="0"/>
          </a:p>
        </p:txBody>
      </p:sp>
      <p:sp>
        <p:nvSpPr>
          <p:cNvPr id="18" name="Shape 12"/>
          <p:cNvSpPr/>
          <p:nvPr/>
        </p:nvSpPr>
        <p:spPr>
          <a:xfrm>
            <a:off x="868680" y="4736592"/>
            <a:ext cx="292608" cy="292608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19" name="Image 4" descr="icons/chec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4791456"/>
            <a:ext cx="182880" cy="18288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280160" y="4700016"/>
            <a:ext cx="448056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B1E2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Model Insights screen with real feature importances for auditability</a:t>
            </a:r>
            <a:endParaRPr lang="en-US" sz="1150" dirty="0"/>
          </a:p>
        </p:txBody>
      </p:sp>
      <p:sp>
        <p:nvSpPr>
          <p:cNvPr id="21" name="Shape 14"/>
          <p:cNvSpPr/>
          <p:nvPr/>
        </p:nvSpPr>
        <p:spPr>
          <a:xfrm>
            <a:off x="868680" y="5440680"/>
            <a:ext cx="4754880" cy="548640"/>
          </a:xfrm>
          <a:prstGeom prst="roundRect">
            <a:avLst>
              <a:gd name="adj" fmla="val 13333"/>
            </a:avLst>
          </a:prstGeom>
          <a:solidFill>
            <a:srgbClr val="0B1E27"/>
          </a:solidFill>
        </p:spPr>
      </p:sp>
      <p:sp>
        <p:nvSpPr>
          <p:cNvPr id="22" name="Text 15"/>
          <p:cNvSpPr/>
          <p:nvPr/>
        </p:nvSpPr>
        <p:spPr>
          <a:xfrm>
            <a:off x="1051560" y="5440680"/>
            <a:ext cx="448056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FD6B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Demo link / repository:  [ add before submission ]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217920" y="1371600"/>
            <a:ext cx="5440680" cy="4206240"/>
          </a:xfrm>
          <a:prstGeom prst="roundRect">
            <a:avLst>
              <a:gd name="adj" fmla="val 2609"/>
            </a:avLst>
          </a:prstGeom>
          <a:solidFill>
            <a:srgbClr val="0F3140"/>
          </a:solidFill>
        </p:spPr>
      </p:sp>
      <p:sp>
        <p:nvSpPr>
          <p:cNvPr id="24" name="Text 17"/>
          <p:cNvSpPr/>
          <p:nvPr/>
        </p:nvSpPr>
        <p:spPr>
          <a:xfrm>
            <a:off x="6537960" y="1600200"/>
            <a:ext cx="47548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Potential Next Steps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6537960" y="2103120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26" name="Image 5" descr="icons/bu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0256" y="2185416"/>
            <a:ext cx="256032" cy="256032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7086600" y="2084832"/>
            <a:ext cx="44348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Multi-signal correlation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7086600" y="2395728"/>
            <a:ext cx="44348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C3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Combine sentiment with billing history for a compound risk view.</a:t>
            </a:r>
            <a:endParaRPr lang="en-US" sz="1050" dirty="0"/>
          </a:p>
        </p:txBody>
      </p:sp>
      <p:sp>
        <p:nvSpPr>
          <p:cNvPr id="29" name="Shape 21"/>
          <p:cNvSpPr/>
          <p:nvPr/>
        </p:nvSpPr>
        <p:spPr>
          <a:xfrm>
            <a:off x="6537960" y="2999232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30" name="Image 6" descr="icons/bar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256" y="3081528"/>
            <a:ext cx="256032" cy="256032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7086600" y="2980944"/>
            <a:ext cx="44348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Visual risk heatmap</a:t>
            </a:r>
            <a:endParaRPr lang="en-US" sz="1250" dirty="0"/>
          </a:p>
        </p:txBody>
      </p:sp>
      <p:sp>
        <p:nvSpPr>
          <p:cNvPr id="32" name="Text 23"/>
          <p:cNvSpPr/>
          <p:nvPr/>
        </p:nvSpPr>
        <p:spPr>
          <a:xfrm>
            <a:off x="7086600" y="3291840"/>
            <a:ext cx="44348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C3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Geographic or segment-level view of concentrated churn risk.</a:t>
            </a:r>
            <a:endParaRPr lang="en-US" sz="1050" dirty="0"/>
          </a:p>
        </p:txBody>
      </p:sp>
      <p:sp>
        <p:nvSpPr>
          <p:cNvPr id="33" name="Shape 24"/>
          <p:cNvSpPr/>
          <p:nvPr/>
        </p:nvSpPr>
        <p:spPr>
          <a:xfrm>
            <a:off x="6537960" y="3895344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34" name="Image 7" descr="icons/rou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0256" y="3977640"/>
            <a:ext cx="256032" cy="256032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7086600" y="3877056"/>
            <a:ext cx="44348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Suggested retention actions</a:t>
            </a:r>
            <a:endParaRPr lang="en-US" sz="1250" dirty="0"/>
          </a:p>
        </p:txBody>
      </p:sp>
      <p:sp>
        <p:nvSpPr>
          <p:cNvPr id="36" name="Text 26"/>
          <p:cNvSpPr/>
          <p:nvPr/>
        </p:nvSpPr>
        <p:spPr>
          <a:xfrm>
            <a:off x="7086600" y="4187952"/>
            <a:ext cx="44348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C3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One recommended next step per flagged customer, ops-reviewable.</a:t>
            </a:r>
            <a:endParaRPr lang="en-US" sz="1050" dirty="0"/>
          </a:p>
        </p:txBody>
      </p:sp>
      <p:sp>
        <p:nvSpPr>
          <p:cNvPr id="37" name="Shape 27"/>
          <p:cNvSpPr/>
          <p:nvPr/>
        </p:nvSpPr>
        <p:spPr>
          <a:xfrm>
            <a:off x="6537960" y="4791456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38" name="Image 8" descr="icons/bo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0256" y="4873752"/>
            <a:ext cx="256032" cy="256032"/>
          </a:xfrm>
          <a:prstGeom prst="rect">
            <a:avLst/>
          </a:prstGeom>
        </p:spPr>
      </p:pic>
      <p:sp>
        <p:nvSpPr>
          <p:cNvPr id="39" name="Text 28"/>
          <p:cNvSpPr/>
          <p:nvPr/>
        </p:nvSpPr>
        <p:spPr>
          <a:xfrm>
            <a:off x="7086600" y="4773168"/>
            <a:ext cx="44348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Continuous monitoring</a:t>
            </a:r>
            <a:endParaRPr lang="en-US" sz="1250" dirty="0"/>
          </a:p>
        </p:txBody>
      </p:sp>
      <p:sp>
        <p:nvSpPr>
          <p:cNvPr id="40" name="Text 29"/>
          <p:cNvSpPr/>
          <p:nvPr/>
        </p:nvSpPr>
        <p:spPr>
          <a:xfrm>
            <a:off x="7086600" y="5084064"/>
            <a:ext cx="44348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C3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Move from static batch upload to a live, streaming signal feed.</a:t>
            </a:r>
            <a:endParaRPr lang="en-US" sz="1050" dirty="0"/>
          </a:p>
        </p:txBody>
      </p:sp>
      <p:sp>
        <p:nvSpPr>
          <p:cNvPr id="41" name="Text 3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Intelligent Customer Signal Detector</a:t>
            </a:r>
            <a:endParaRPr lang="en-US" sz="1000" dirty="0"/>
          </a:p>
        </p:txBody>
      </p:sp>
      <p:sp>
        <p:nvSpPr>
          <p:cNvPr id="42" name="Text 31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 / 5</a:t>
            </a:r>
            <a:endParaRPr lang="en-US" sz="100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34.35999999999999,&quot;left&quot;:43.2,&quot;top&quot;:144,&quot;width&quot;:781.2}"/>
</p:tagLst>
</file>

<file path=ppt/tags/tag2.xml><?xml version="1.0" encoding="utf-8"?>
<p:tagLst xmlns:p="http://schemas.openxmlformats.org/presentationml/2006/main">
  <p:tag name="KSO_WM_DIAGRAM_VIRTUALLY_FRAME" val="{&quot;height&quot;:234.35999999999999,&quot;left&quot;:43.2,&quot;top&quot;:144,&quot;width&quot;:781.2}"/>
</p:tagLst>
</file>

<file path=ppt/tags/tag3.xml><?xml version="1.0" encoding="utf-8"?>
<p:tagLst xmlns:p="http://schemas.openxmlformats.org/presentationml/2006/main">
  <p:tag name="KSO_WM_DIAGRAM_VIRTUALLY_FRAME" val="{&quot;height&quot;:234.35999999999999,&quot;left&quot;:43.2,&quot;top&quot;:144,&quot;width&quot;:781.2}"/>
</p:tagLst>
</file>

<file path=ppt/tags/tag4.xml><?xml version="1.0" encoding="utf-8"?>
<p:tagLst xmlns:p="http://schemas.openxmlformats.org/presentationml/2006/main">
  <p:tag name="KSO_WM_DIAGRAM_VIRTUALLY_FRAME" val="{&quot;height&quot;:234.35999999999999,&quot;left&quot;:43.2,&quot;top&quot;:144,&quot;width&quot;:781.2}"/>
</p:tagLst>
</file>

<file path=ppt/tags/tag5.xml><?xml version="1.0" encoding="utf-8"?>
<p:tagLst xmlns:p="http://schemas.openxmlformats.org/presentationml/2006/main">
  <p:tag name="KSO_WM_DIAGRAM_VIRTUALLY_FRAME" val="{&quot;height&quot;:234.35999999999999,&quot;left&quot;:43.2,&quot;top&quot;:144,&quot;width&quot;:781.2}"/>
</p:tagLst>
</file>

<file path=ppt/tags/tag6.xml><?xml version="1.0" encoding="utf-8"?>
<p:tagLst xmlns:p="http://schemas.openxmlformats.org/presentationml/2006/main">
  <p:tag name="KSO_WM_DIAGRAM_VIRTUALLY_FRAME" val="{&quot;height&quot;:234.35999999999999,&quot;left&quot;:43.2,&quot;top&quot;:144,&quot;width&quot;:781.2}"/>
</p:tagLst>
</file>

<file path=ppt/tags/tag7.xml><?xml version="1.0" encoding="utf-8"?>
<p:tagLst xmlns:p="http://schemas.openxmlformats.org/presentationml/2006/main">
  <p:tag name="KSO_WM_DIAGRAM_VIRTUALLY_FRAME" val="{&quot;height&quot;:234.35999999999999,&quot;left&quot;:43.2,&quot;top&quot;:144,&quot;width&quot;:781.2}"/>
</p:tagLst>
</file>

<file path=ppt/tags/tag8.xml><?xml version="1.0" encoding="utf-8"?>
<p:tagLst xmlns:p="http://schemas.openxmlformats.org/presentationml/2006/main">
  <p:tag name="KSO_WM_DIAGRAM_VIRTUALLY_FRAME" val="{&quot;height&quot;:234.35999999999999,&quot;left&quot;:43.2,&quot;top&quot;:144,&quot;width&quot;:781.2}"/>
</p:tagLst>
</file>

<file path=ppt/tags/tag9.xml><?xml version="1.0" encoding="utf-8"?>
<p:tagLst xmlns:p="http://schemas.openxmlformats.org/presentationml/2006/main">
  <p:tag name="KSO_WM_DIAGRAM_VIRTUALLY_FRAME" val="{&quot;height&quot;:234.35999999999999,&quot;left&quot;:43.2,&quot;top&quot;:144,&quot;width&quot;:781.2}"/>
</p:tagLst>
</file>

<file path=ppt/tags/tag10.xml><?xml version="1.0" encoding="utf-8"?>
<p:tagLst xmlns:p="http://schemas.openxmlformats.org/presentationml/2006/main">
  <p:tag name="KSO_WM_DIAGRAM_VIRTUALLY_FRAME" val="{&quot;height&quot;:234.35999999999999,&quot;left&quot;:43.2,&quot;top&quot;:144,&quot;width&quot;:781.2}"/>
</p:tagLst>
</file>

<file path=ppt/tags/tag11.xml><?xml version="1.0" encoding="utf-8"?>
<p:tagLst xmlns:p="http://schemas.openxmlformats.org/presentationml/2006/main">
  <p:tag name="KSO_WM_DIAGRAM_VIRTUALLY_FRAME" val="{&quot;height&quot;:234.35999999999999,&quot;left&quot;:43.2,&quot;top&quot;:144,&quot;width&quot;:781.2}"/>
</p:tagLst>
</file>

<file path=ppt/tags/tag12.xml><?xml version="1.0" encoding="utf-8"?>
<p:tagLst xmlns:p="http://schemas.openxmlformats.org/presentationml/2006/main">
  <p:tag name="KSO_WM_DIAGRAM_VIRTUALLY_FRAME" val="{&quot;height&quot;:234.35999999999999,&quot;left&quot;:43.2,&quot;top&quot;:144,&quot;width&quot;:781.2}"/>
</p:tagLst>
</file>

<file path=ppt/tags/tag13.xml><?xml version="1.0" encoding="utf-8"?>
<p:tagLst xmlns:p="http://schemas.openxmlformats.org/presentationml/2006/main">
  <p:tag name="KSO_WM_DIAGRAM_VIRTUALLY_FRAME" val="{&quot;height&quot;:234.35999999999999,&quot;left&quot;:43.2,&quot;top&quot;:144,&quot;width&quot;:781.2}"/>
</p:tagLst>
</file>

<file path=ppt/tags/tag14.xml><?xml version="1.0" encoding="utf-8"?>
<p:tagLst xmlns:p="http://schemas.openxmlformats.org/presentationml/2006/main">
  <p:tag name="KSO_WM_DIAGRAM_VIRTUALLY_FRAME" val="{&quot;height&quot;:234.35999999999999,&quot;left&quot;:43.2,&quot;top&quot;:144,&quot;width&quot;:781.2}"/>
</p:tagLst>
</file>

<file path=ppt/tags/tag15.xml><?xml version="1.0" encoding="utf-8"?>
<p:tagLst xmlns:p="http://schemas.openxmlformats.org/presentationml/2006/main">
  <p:tag name="KSO_WM_DIAGRAM_VIRTUALLY_FRAME" val="{&quot;height&quot;:234.35999999999999,&quot;left&quot;:43.2,&quot;top&quot;:144,&quot;width&quot;:781.2}"/>
</p:tagLst>
</file>

<file path=ppt/tags/tag16.xml><?xml version="1.0" encoding="utf-8"?>
<p:tagLst xmlns:p="http://schemas.openxmlformats.org/presentationml/2006/main">
  <p:tag name="KSO_WM_DIAGRAM_VIRTUALLY_FRAME" val="{&quot;height&quot;:234.35999999999999,&quot;left&quot;:43.2,&quot;top&quot;:144,&quot;width&quot;:781.2}"/>
</p:tagLst>
</file>

<file path=ppt/tags/tag17.xml><?xml version="1.0" encoding="utf-8"?>
<p:tagLst xmlns:p="http://schemas.openxmlformats.org/presentationml/2006/main">
  <p:tag name="KSO_WM_DIAGRAM_VIRTUALLY_FRAME" val="{&quot;height&quot;:234.35999999999999,&quot;left&quot;:43.2,&quot;top&quot;:144,&quot;width&quot;:781.2}"/>
</p:tagLst>
</file>

<file path=ppt/tags/tag18.xml><?xml version="1.0" encoding="utf-8"?>
<p:tagLst xmlns:p="http://schemas.openxmlformats.org/presentationml/2006/main">
  <p:tag name="KSO_WM_DIAGRAM_VIRTUALLY_FRAME" val="{&quot;height&quot;:234.35999999999999,&quot;left&quot;:43.2,&quot;top&quot;:144,&quot;width&quot;:781.2}"/>
</p:tagLst>
</file>

<file path=ppt/tags/tag19.xml><?xml version="1.0" encoding="utf-8"?>
<p:tagLst xmlns:p="http://schemas.openxmlformats.org/presentationml/2006/main">
  <p:tag name="KSO_WM_DIAGRAM_VIRTUALLY_FRAME" val="{&quot;height&quot;:234.35999999999999,&quot;left&quot;:43.2,&quot;top&quot;:144,&quot;width&quot;:781.2}"/>
</p:tagLst>
</file>

<file path=ppt/tags/tag20.xml><?xml version="1.0" encoding="utf-8"?>
<p:tagLst xmlns:p="http://schemas.openxmlformats.org/presentationml/2006/main">
  <p:tag name="KSO_WM_DIAGRAM_VIRTUALLY_FRAME" val="{&quot;height&quot;:234.35999999999999,&quot;left&quot;:43.2,&quot;top&quot;:144,&quot;width&quot;:781.2}"/>
</p:tagLst>
</file>

<file path=ppt/tags/tag21.xml><?xml version="1.0" encoding="utf-8"?>
<p:tagLst xmlns:p="http://schemas.openxmlformats.org/presentationml/2006/main">
  <p:tag name="KSO_WM_DIAGRAM_VIRTUALLY_FRAME" val="{&quot;height&quot;:234.35999999999999,&quot;left&quot;:43.2,&quot;top&quot;:144,&quot;width&quot;:781.2}"/>
</p:tagLst>
</file>

<file path=ppt/tags/tag22.xml><?xml version="1.0" encoding="utf-8"?>
<p:tagLst xmlns:p="http://schemas.openxmlformats.org/presentationml/2006/main">
  <p:tag name="KSO_WM_DIAGRAM_VIRTUALLY_FRAME" val="{&quot;height&quot;:234.35999999999999,&quot;left&quot;:43.2,&quot;top&quot;:144,&quot;width&quot;:781.2}"/>
</p:tagLst>
</file>

<file path=ppt/tags/tag23.xml><?xml version="1.0" encoding="utf-8"?>
<p:tagLst xmlns:p="http://schemas.openxmlformats.org/presentationml/2006/main">
  <p:tag name="KSO_WM_DIAGRAM_VIRTUALLY_FRAME" val="{&quot;height&quot;:234.35999999999999,&quot;left&quot;:43.2,&quot;top&quot;:144,&quot;width&quot;:781.2}"/>
</p:tagLst>
</file>

<file path=ppt/tags/tag24.xml><?xml version="1.0" encoding="utf-8"?>
<p:tagLst xmlns:p="http://schemas.openxmlformats.org/presentationml/2006/main">
  <p:tag name="KSO_WM_DIAGRAM_VIRTUALLY_FRAME" val="{&quot;height&quot;:234.35999999999999,&quot;left&quot;:43.2,&quot;top&quot;:144,&quot;width&quot;:781.2}"/>
</p:tagLst>
</file>

<file path=ppt/tags/tag25.xml><?xml version="1.0" encoding="utf-8"?>
<p:tagLst xmlns:p="http://schemas.openxmlformats.org/presentationml/2006/main">
  <p:tag name="KSO_WM_DIAGRAM_VIRTUALLY_FRAME" val="{&quot;height&quot;:234.35999999999999,&quot;left&quot;:43.2,&quot;top&quot;:144,&quot;width&quot;:781.2}"/>
</p:tagLst>
</file>

<file path=ppt/tags/tag26.xml><?xml version="1.0" encoding="utf-8"?>
<p:tagLst xmlns:p="http://schemas.openxmlformats.org/presentationml/2006/main">
  <p:tag name="KSO_WM_DIAGRAM_VIRTUALLY_FRAME" val="{&quot;height&quot;:234.35999999999999,&quot;left&quot;:43.2,&quot;top&quot;:144,&quot;width&quot;:781.2}"/>
</p:tagLst>
</file>

<file path=ppt/tags/tag27.xml><?xml version="1.0" encoding="utf-8"?>
<p:tagLst xmlns:p="http://schemas.openxmlformats.org/presentationml/2006/main">
  <p:tag name="KSO_WM_DIAGRAM_VIRTUALLY_FRAME" val="{&quot;height&quot;:234.35999999999999,&quot;left&quot;:43.2,&quot;top&quot;:144,&quot;width&quot;:781.2}"/>
</p:tagLst>
</file>

<file path=ppt/tags/tag28.xml><?xml version="1.0" encoding="utf-8"?>
<p:tagLst xmlns:p="http://schemas.openxmlformats.org/presentationml/2006/main">
  <p:tag name="KSO_WM_DIAGRAM_VIRTUALLY_FRAME" val="{&quot;height&quot;:234.35999999999999,&quot;left&quot;:43.2,&quot;top&quot;:144,&quot;width&quot;:781.2}"/>
</p:tagLst>
</file>

<file path=ppt/tags/tag29.xml><?xml version="1.0" encoding="utf-8"?>
<p:tagLst xmlns:p="http://schemas.openxmlformats.org/presentationml/2006/main">
  <p:tag name="KSO_WM_DIAGRAM_VIRTUALLY_FRAME" val="{&quot;height&quot;:234.35999999999999,&quot;left&quot;:43.2,&quot;top&quot;:144,&quot;width&quot;:781.2}"/>
</p:tagLst>
</file>

<file path=ppt/tags/tag30.xml><?xml version="1.0" encoding="utf-8"?>
<p:tagLst xmlns:p="http://schemas.openxmlformats.org/presentationml/2006/main">
  <p:tag name="KSO_WM_DIAGRAM_VIRTUALLY_FRAME" val="{&quot;height&quot;:234.35999999999999,&quot;left&quot;:43.2,&quot;top&quot;:144,&quot;width&quot;:781.2}"/>
</p:tagLst>
</file>

<file path=ppt/tags/tag31.xml><?xml version="1.0" encoding="utf-8"?>
<p:tagLst xmlns:p="http://schemas.openxmlformats.org/presentationml/2006/main">
  <p:tag name="KSO_WM_DIAGRAM_VIRTUALLY_FRAME" val="{&quot;height&quot;:234.35999999999999,&quot;left&quot;:43.2,&quot;top&quot;:144,&quot;width&quot;:781.2}"/>
</p:tagLst>
</file>

<file path=ppt/tags/tag32.xml><?xml version="1.0" encoding="utf-8"?>
<p:tagLst xmlns:p="http://schemas.openxmlformats.org/presentationml/2006/main">
  <p:tag name="KSO_WM_DIAGRAM_VIRTUALLY_FRAME" val="{&quot;height&quot;:234.35999999999999,&quot;left&quot;:43.2,&quot;top&quot;:144,&quot;width&quot;:781.2}"/>
</p:tagLst>
</file>

<file path=ppt/tags/tag33.xml><?xml version="1.0" encoding="utf-8"?>
<p:tagLst xmlns:p="http://schemas.openxmlformats.org/presentationml/2006/main">
  <p:tag name="KSO_WM_DIAGRAM_VIRTUALLY_FRAME" val="{&quot;height&quot;:234.35999999999999,&quot;left&quot;:43.2,&quot;top&quot;:144,&quot;width&quot;:781.2}"/>
</p:tagLst>
</file>

<file path=ppt/tags/tag34.xml><?xml version="1.0" encoding="utf-8"?>
<p:tagLst xmlns:p="http://schemas.openxmlformats.org/presentationml/2006/main">
  <p:tag name="KSO_WM_DIAGRAM_VIRTUALLY_FRAME" val="{&quot;height&quot;:234.35999999999999,&quot;left&quot;:43.2,&quot;top&quot;:144,&quot;width&quot;:781.2}"/>
</p:tagLst>
</file>

<file path=ppt/tags/tag35.xml><?xml version="1.0" encoding="utf-8"?>
<p:tagLst xmlns:p="http://schemas.openxmlformats.org/presentationml/2006/main">
  <p:tag name="KSO_WM_DIAGRAM_VIRTUALLY_FRAME" val="{&quot;height&quot;:234.35999999999999,&quot;left&quot;:43.2,&quot;top&quot;:144,&quot;width&quot;:781.2}"/>
</p:tagLst>
</file>

<file path=ppt/tags/tag36.xml><?xml version="1.0" encoding="utf-8"?>
<p:tagLst xmlns:p="http://schemas.openxmlformats.org/presentationml/2006/main">
  <p:tag name="KSO_WM_DIAGRAM_VIRTUALLY_FRAME" val="{&quot;height&quot;:234.35999999999999,&quot;left&quot;:43.2,&quot;top&quot;:144,&quot;width&quot;:781.2}"/>
</p:tagLst>
</file>

<file path=ppt/tags/tag37.xml><?xml version="1.0" encoding="utf-8"?>
<p:tagLst xmlns:p="http://schemas.openxmlformats.org/presentationml/2006/main">
  <p:tag name="KSO_WM_DIAGRAM_VIRTUALLY_FRAME" val="{&quot;height&quot;:234.35999999999999,&quot;left&quot;:43.2,&quot;top&quot;:144,&quot;width&quot;:781.2}"/>
</p:tagLst>
</file>

<file path=ppt/tags/tag38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39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40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41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42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43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44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45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46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47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48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49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50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51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52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53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54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55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56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57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58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59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60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61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62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63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64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65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66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67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68.xml><?xml version="1.0" encoding="utf-8"?>
<p:tagLst xmlns:p="http://schemas.openxmlformats.org/presentationml/2006/main">
  <p:tag name="KSO_WM_DIAGRAM_VIRTUALLY_FRAME" val="{&quot;height&quot;:356.4,&quot;left&quot;:43.2,&quot;top&quot;:144,&quot;width&quot;:842.4}"/>
</p:tagLst>
</file>

<file path=ppt/tags/tag69.xml><?xml version="1.0" encoding="utf-8"?>
<p:tagLst xmlns:p="http://schemas.openxmlformats.org/presentationml/2006/main">
  <p:tag name="KSO_WM_DIAGRAM_VIRTUALLY_FRAME" val="{&quot;height&quot;:356.4,&quot;left&quot;:43.2,&quot;top&quot;:144,&quot;width&quot;:842.4}"/>
</p:tagLst>
</file>

<file path=ppt/tags/tag70.xml><?xml version="1.0" encoding="utf-8"?>
<p:tagLst xmlns:p="http://schemas.openxmlformats.org/presentationml/2006/main">
  <p:tag name="KSO_WM_DIAGRAM_VIRTUALLY_FRAME" val="{&quot;height&quot;:356.4,&quot;left&quot;:43.2,&quot;top&quot;:144,&quot;width&quot;:842.4}"/>
</p:tagLst>
</file>

<file path=ppt/tags/tag71.xml><?xml version="1.0" encoding="utf-8"?>
<p:tagLst xmlns:p="http://schemas.openxmlformats.org/presentationml/2006/main">
  <p:tag name="KSO_WM_DIAGRAM_VIRTUALLY_FRAME" val="{&quot;height&quot;:356.4,&quot;left&quot;:43.2,&quot;top&quot;:144,&quot;width&quot;:842.4}"/>
</p:tagLst>
</file>

<file path=ppt/tags/tag72.xml><?xml version="1.0" encoding="utf-8"?>
<p:tagLst xmlns:p="http://schemas.openxmlformats.org/presentationml/2006/main">
  <p:tag name="KSO_WM_DIAGRAM_VIRTUALLY_FRAME" val="{&quot;height&quot;:356.4,&quot;left&quot;:43.2,&quot;top&quot;:144,&quot;width&quot;:842.4}"/>
</p:tagLst>
</file>

<file path=ppt/tags/tag73.xml><?xml version="1.0" encoding="utf-8"?>
<p:tagLst xmlns:p="http://schemas.openxmlformats.org/presentationml/2006/main">
  <p:tag name="KSO_WM_DIAGRAM_VIRTUALLY_FRAME" val="{&quot;height&quot;:356.4,&quot;left&quot;:43.2,&quot;top&quot;:144,&quot;width&quot;:842.4}"/>
</p:tagLst>
</file>

<file path=ppt/tags/tag74.xml><?xml version="1.0" encoding="utf-8"?>
<p:tagLst xmlns:p="http://schemas.openxmlformats.org/presentationml/2006/main">
  <p:tag name="KSO_WM_DIAGRAM_VIRTUALLY_FRAME" val="{&quot;height&quot;:356.4,&quot;left&quot;:43.2,&quot;top&quot;:144,&quot;width&quot;:842.4}"/>
</p:tagLst>
</file>

<file path=ppt/tags/tag75.xml><?xml version="1.0" encoding="utf-8"?>
<p:tagLst xmlns:p="http://schemas.openxmlformats.org/presentationml/2006/main">
  <p:tag name="KSO_WM_DIAGRAM_VIRTUALLY_FRAME" val="{&quot;height&quot;:356.4,&quot;left&quot;:43.2,&quot;top&quot;:144,&quot;width&quot;:842.4}"/>
</p:tagLst>
</file>

<file path=ppt/tags/tag76.xml><?xml version="1.0" encoding="utf-8"?>
<p:tagLst xmlns:p="http://schemas.openxmlformats.org/presentationml/2006/main">
  <p:tag name="KSO_WM_DIAGRAM_VIRTUALLY_FRAME" val="{&quot;height&quot;:356.4,&quot;left&quot;:43.2,&quot;top&quot;:144,&quot;width&quot;:842.4}"/>
</p:tagLst>
</file>

<file path=ppt/tags/tag77.xml><?xml version="1.0" encoding="utf-8"?>
<p:tagLst xmlns:p="http://schemas.openxmlformats.org/presentationml/2006/main">
  <p:tag name="KSO_WM_DIAGRAM_VIRTUALLY_FRAME" val="{&quot;height&quot;:356.4,&quot;left&quot;:43.2,&quot;top&quot;:144,&quot;width&quot;:842.4}"/>
</p:tagLst>
</file>

<file path=ppt/tags/tag78.xml><?xml version="1.0" encoding="utf-8"?>
<p:tagLst xmlns:p="http://schemas.openxmlformats.org/presentationml/2006/main">
  <p:tag name="KSO_WM_DIAGRAM_VIRTUALLY_FRAME" val="{&quot;height&quot;:356.4,&quot;left&quot;:43.2,&quot;top&quot;:144,&quot;width&quot;:842.4}"/>
</p:tagLst>
</file>

<file path=ppt/tags/tag79.xml><?xml version="1.0" encoding="utf-8"?>
<p:tagLst xmlns:p="http://schemas.openxmlformats.org/presentationml/2006/main">
  <p:tag name="KSO_WM_DIAGRAM_VIRTUALLY_FRAME" val="{&quot;height&quot;:356.4,&quot;left&quot;:43.2,&quot;top&quot;:144,&quot;width&quot;:842.4}"/>
</p:tagLst>
</file>

<file path=ppt/tags/tag80.xml><?xml version="1.0" encoding="utf-8"?>
<p:tagLst xmlns:p="http://schemas.openxmlformats.org/presentationml/2006/main">
  <p:tag name="KSO_WM_DIAGRAM_VIRTUALLY_FRAME" val="{&quot;height&quot;:356.4,&quot;left&quot;:43.2,&quot;top&quot;:144,&quot;width&quot;:842.4}"/>
</p:tagLst>
</file>

<file path=ppt/tags/tag81.xml><?xml version="1.0" encoding="utf-8"?>
<p:tagLst xmlns:p="http://schemas.openxmlformats.org/presentationml/2006/main">
  <p:tag name="KSO_WM_DIAGRAM_VIRTUALLY_FRAME" val="{&quot;height&quot;:356.4,&quot;left&quot;:43.2,&quot;top&quot;:144,&quot;width&quot;:842.4}"/>
</p:tagLst>
</file>

<file path=ppt/tags/tag82.xml><?xml version="1.0" encoding="utf-8"?>
<p:tagLst xmlns:p="http://schemas.openxmlformats.org/presentationml/2006/main">
  <p:tag name="KSO_WM_DIAGRAM_VIRTUALLY_FRAME" val="{&quot;height&quot;:356.4,&quot;left&quot;:43.2,&quot;top&quot;:144,&quot;width&quot;:842.4}"/>
</p:tagLst>
</file>

<file path=ppt/tags/tag83.xml><?xml version="1.0" encoding="utf-8"?>
<p:tagLst xmlns:p="http://schemas.openxmlformats.org/presentationml/2006/main">
  <p:tag name="KSO_WM_DIAGRAM_VIRTUALLY_FRAME" val="{&quot;height&quot;:356.4,&quot;left&quot;:43.2,&quot;top&quot;:144,&quot;width&quot;:842.4}"/>
</p:tagLst>
</file>

<file path=ppt/tags/tag84.xml><?xml version="1.0" encoding="utf-8"?>
<p:tagLst xmlns:p="http://schemas.openxmlformats.org/presentationml/2006/main">
  <p:tag name="KSO_WM_DIAGRAM_VIRTUALLY_FRAME" val="{&quot;height&quot;:356.4,&quot;left&quot;:43.2,&quot;top&quot;:144,&quot;width&quot;:842.4}"/>
</p:tagLst>
</file>

<file path=ppt/tags/tag85.xml><?xml version="1.0" encoding="utf-8"?>
<p:tagLst xmlns:p="http://schemas.openxmlformats.org/presentationml/2006/main">
  <p:tag name="KSO_WM_DIAGRAM_VIRTUALLY_FRAME" val="{&quot;height&quot;:356.4,&quot;left&quot;:43.2,&quot;top&quot;:144,&quot;width&quot;:842.4}"/>
</p:tagLst>
</file>

<file path=ppt/tags/tag86.xml><?xml version="1.0" encoding="utf-8"?>
<p:tagLst xmlns:p="http://schemas.openxmlformats.org/presentationml/2006/main">
  <p:tag name="KSO_WM_DIAGRAM_VIRTUALLY_FRAME" val="{&quot;height&quot;:356.4,&quot;left&quot;:43.2,&quot;top&quot;:144,&quot;width&quot;:842.4}"/>
</p:tagLst>
</file>

<file path=ppt/tags/tag87.xml><?xml version="1.0" encoding="utf-8"?>
<p:tagLst xmlns:p="http://schemas.openxmlformats.org/presentationml/2006/main">
  <p:tag name="KSO_WM_DIAGRAM_VIRTUALLY_FRAME" val="{&quot;height&quot;:356.4,&quot;left&quot;:43.2,&quot;top&quot;:144,&quot;width&quot;:842.4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4719</Words>
  <Application>WPS Presentation</Application>
  <PresentationFormat>On-screen Show (16:9)</PresentationFormat>
  <Paragraphs>176</Paragraphs>
  <Slides>5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7" baseType="lpstr">
      <vt:lpstr>Arial</vt:lpstr>
      <vt:lpstr>SimSun</vt:lpstr>
      <vt:lpstr>Wingdings</vt:lpstr>
      <vt:lpstr>Calibri</vt:lpstr>
      <vt:lpstr>Calibri</vt:lpstr>
      <vt:lpstr>Calibri</vt:lpstr>
      <vt:lpstr>Cambria</vt:lpstr>
      <vt:lpstr>Cambria</vt:lpstr>
      <vt:lpstr>Cambria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chskc</cp:lastModifiedBy>
  <cp:revision>2</cp:revision>
  <dcterms:created xsi:type="dcterms:W3CDTF">2026-08-13T21:27:00Z</dcterms:created>
  <dcterms:modified xsi:type="dcterms:W3CDTF">2026-08-14T04:00:53Z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F4B2FD723742443A873CE474380B382E_12</vt:lpwstr>
  </property>
  <property fmtid="{D5CDD505-2E9C-101B-9397-08002B2CF9AE}" pid="3" name="KSOProductBuildVer">
    <vt:lpwstr>2057-12.2.0.23206</vt:lpwstr>
  </property>
</Properties>
</file>